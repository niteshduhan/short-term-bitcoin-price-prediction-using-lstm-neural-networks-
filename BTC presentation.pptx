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Prompt Medium" panose="00000600000000000000" pitchFamily="2" charset="-3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358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mailto:nitesh.mscds@exampl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2749510"/>
            <a:ext cx="7415927" cy="1371600"/>
          </a:xfrm>
          <a:prstGeom prst="rect">
            <a:avLst/>
          </a:prstGeom>
          <a:noFill/>
          <a:ln/>
        </p:spPr>
        <p:txBody>
          <a:bodyPr wrap="squar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Short-Term Bitcoin Price Prediction</a:t>
            </a:r>
            <a:endParaRPr lang="en-US" sz="4300" dirty="0"/>
          </a:p>
        </p:txBody>
      </p:sp>
      <p:sp>
        <p:nvSpPr>
          <p:cNvPr id="4" name="Text 1"/>
          <p:cNvSpPr/>
          <p:nvPr/>
        </p:nvSpPr>
        <p:spPr>
          <a:xfrm>
            <a:off x="864037" y="4491395"/>
            <a:ext cx="7415927" cy="395049"/>
          </a:xfrm>
          <a:prstGeom prst="rect">
            <a:avLst/>
          </a:prstGeom>
          <a:noFill/>
          <a:ln/>
        </p:spPr>
        <p:txBody>
          <a:bodyPr wrap="non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cs typeface="Mukta Light" pitchFamily="34" charset="-120"/>
              </a:rPr>
              <a:t>Utilizing LSTM Neural Networks</a:t>
            </a:r>
            <a:endParaRPr lang="en-US" sz="1900" dirty="0"/>
          </a:p>
        </p:txBody>
      </p:sp>
      <p:sp>
        <p:nvSpPr>
          <p:cNvPr id="5" name="Text 2"/>
          <p:cNvSpPr/>
          <p:nvPr/>
        </p:nvSpPr>
        <p:spPr>
          <a:xfrm>
            <a:off x="864037" y="5164098"/>
            <a:ext cx="7415927" cy="315992"/>
          </a:xfrm>
          <a:prstGeom prst="rect">
            <a:avLst/>
          </a:prstGeom>
          <a:noFill/>
          <a:ln/>
        </p:spPr>
        <p:txBody>
          <a:bodyPr wrap="none" lIns="0" tIns="0" rIns="0" bIns="0" rtlCol="0" anchor="t"/>
          <a:lstStyle/>
          <a:p>
            <a:pPr marL="0" indent="0" algn="l">
              <a:lnSpc>
                <a:spcPts val="2450"/>
              </a:lnSpc>
              <a:buNone/>
            </a:pPr>
            <a:r>
              <a:rPr lang="en-US" sz="1550" dirty="0">
                <a:solidFill>
                  <a:srgbClr val="DAD8E9"/>
                </a:solidFill>
                <a:latin typeface="Mukta Light" pitchFamily="34" charset="0"/>
                <a:ea typeface="Mukta Light" pitchFamily="34" charset="-122"/>
                <a:cs typeface="Mukta Light" pitchFamily="34" charset="-120"/>
              </a:rPr>
              <a:t>Submitted By: NITESH, MSc. Data Science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84860" y="792837"/>
            <a:ext cx="10989350" cy="622935"/>
          </a:xfrm>
          <a:prstGeom prst="rect">
            <a:avLst/>
          </a:prstGeom>
          <a:noFill/>
          <a:ln/>
        </p:spPr>
        <p:txBody>
          <a:bodyPr wrap="none" lIns="0" tIns="0" rIns="0" bIns="0" rtlCol="0" anchor="t"/>
          <a:lstStyle/>
          <a:p>
            <a:pPr marL="0" indent="0" algn="l">
              <a:lnSpc>
                <a:spcPts val="4900"/>
              </a:lnSpc>
              <a:buNone/>
            </a:pPr>
            <a:r>
              <a:rPr lang="en-US" sz="3900" dirty="0">
                <a:solidFill>
                  <a:srgbClr val="C6BFEE"/>
                </a:solidFill>
                <a:latin typeface="Prompt Medium" pitchFamily="34" charset="0"/>
                <a:ea typeface="Prompt Medium" pitchFamily="34" charset="-122"/>
                <a:cs typeface="Prompt Medium" pitchFamily="34" charset="-120"/>
              </a:rPr>
              <a:t>Core Objective: Forecasting the "Close" Price</a:t>
            </a:r>
            <a:endParaRPr lang="en-US" sz="3900" dirty="0"/>
          </a:p>
        </p:txBody>
      </p:sp>
      <p:sp>
        <p:nvSpPr>
          <p:cNvPr id="3" name="Shape 1"/>
          <p:cNvSpPr/>
          <p:nvPr/>
        </p:nvSpPr>
        <p:spPr>
          <a:xfrm>
            <a:off x="784860" y="2200632"/>
            <a:ext cx="6418183" cy="2337792"/>
          </a:xfrm>
          <a:prstGeom prst="roundRect">
            <a:avLst>
              <a:gd name="adj" fmla="val 6258"/>
            </a:avLst>
          </a:prstGeom>
          <a:solidFill>
            <a:srgbClr val="0B0C23">
              <a:alpha val="95000"/>
            </a:srgbClr>
          </a:solidFill>
          <a:ln/>
        </p:spPr>
        <p:txBody>
          <a:bodyPr/>
          <a:lstStyle/>
          <a:p>
            <a:endParaRPr lang="en-US"/>
          </a:p>
        </p:txBody>
      </p:sp>
      <p:sp>
        <p:nvSpPr>
          <p:cNvPr id="4" name="Shape 2"/>
          <p:cNvSpPr/>
          <p:nvPr/>
        </p:nvSpPr>
        <p:spPr>
          <a:xfrm>
            <a:off x="784860" y="2170152"/>
            <a:ext cx="6418183" cy="121920"/>
          </a:xfrm>
          <a:prstGeom prst="roundRect">
            <a:avLst>
              <a:gd name="adj" fmla="val 77253"/>
            </a:avLst>
          </a:prstGeom>
          <a:solidFill>
            <a:srgbClr val="A95B95"/>
          </a:solidFill>
          <a:ln/>
        </p:spPr>
        <p:txBody>
          <a:bodyPr/>
          <a:lstStyle/>
          <a:p>
            <a:endParaRPr lang="en-US"/>
          </a:p>
        </p:txBody>
      </p:sp>
      <p:sp>
        <p:nvSpPr>
          <p:cNvPr id="5" name="Shape 3"/>
          <p:cNvSpPr/>
          <p:nvPr/>
        </p:nvSpPr>
        <p:spPr>
          <a:xfrm>
            <a:off x="3657600" y="1864281"/>
            <a:ext cx="672703" cy="672703"/>
          </a:xfrm>
          <a:prstGeom prst="roundRect">
            <a:avLst>
              <a:gd name="adj" fmla="val 135929"/>
            </a:avLst>
          </a:prstGeom>
          <a:solidFill>
            <a:srgbClr val="A95B9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3859411" y="2032397"/>
            <a:ext cx="269081" cy="336352"/>
          </a:xfrm>
          <a:prstGeom prst="rect">
            <a:avLst/>
          </a:prstGeom>
        </p:spPr>
      </p:pic>
      <p:sp>
        <p:nvSpPr>
          <p:cNvPr id="7" name="Text 4"/>
          <p:cNvSpPr/>
          <p:nvPr/>
        </p:nvSpPr>
        <p:spPr>
          <a:xfrm>
            <a:off x="1039535" y="2761178"/>
            <a:ext cx="2491621" cy="311468"/>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Primary Goal</a:t>
            </a:r>
            <a:endParaRPr lang="en-US" sz="1950" dirty="0"/>
          </a:p>
        </p:txBody>
      </p:sp>
      <p:sp>
        <p:nvSpPr>
          <p:cNvPr id="8" name="Text 5"/>
          <p:cNvSpPr/>
          <p:nvPr/>
        </p:nvSpPr>
        <p:spPr>
          <a:xfrm>
            <a:off x="1039535" y="3207187"/>
            <a:ext cx="5908834" cy="1076563"/>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Design, implement, and evaluate a short-term Bitcoin price prediction system using LSTM networks, focusing on forecasting the </a:t>
            </a:r>
            <a:r>
              <a:rPr lang="en-US" sz="1750" b="1" dirty="0">
                <a:solidFill>
                  <a:srgbClr val="DAD8E9"/>
                </a:solidFill>
                <a:latin typeface="Mukta Light" pitchFamily="34" charset="0"/>
                <a:ea typeface="Mukta Light" pitchFamily="34" charset="-122"/>
                <a:cs typeface="Mukta Light" pitchFamily="34" charset="-120"/>
              </a:rPr>
              <a:t>closing price ("close")</a:t>
            </a:r>
            <a:r>
              <a:rPr lang="en-US" sz="1750" dirty="0">
                <a:solidFill>
                  <a:srgbClr val="DAD8E9"/>
                </a:solidFill>
                <a:latin typeface="Mukta Light" pitchFamily="34" charset="0"/>
                <a:ea typeface="Mukta Light" pitchFamily="34" charset="-122"/>
                <a:cs typeface="Mukta Light" pitchFamily="34" charset="-120"/>
              </a:rPr>
              <a:t> as the target variable.</a:t>
            </a:r>
            <a:endParaRPr lang="en-US" sz="1750" dirty="0"/>
          </a:p>
        </p:txBody>
      </p:sp>
      <p:sp>
        <p:nvSpPr>
          <p:cNvPr id="9" name="Shape 6"/>
          <p:cNvSpPr/>
          <p:nvPr/>
        </p:nvSpPr>
        <p:spPr>
          <a:xfrm>
            <a:off x="7427238" y="2200632"/>
            <a:ext cx="6418302" cy="2337792"/>
          </a:xfrm>
          <a:prstGeom prst="roundRect">
            <a:avLst>
              <a:gd name="adj" fmla="val 6258"/>
            </a:avLst>
          </a:prstGeom>
          <a:solidFill>
            <a:srgbClr val="0B0C23">
              <a:alpha val="95000"/>
            </a:srgbClr>
          </a:solidFill>
          <a:ln/>
        </p:spPr>
        <p:txBody>
          <a:bodyPr/>
          <a:lstStyle/>
          <a:p>
            <a:endParaRPr lang="en-US"/>
          </a:p>
        </p:txBody>
      </p:sp>
      <p:sp>
        <p:nvSpPr>
          <p:cNvPr id="10" name="Shape 7"/>
          <p:cNvSpPr/>
          <p:nvPr/>
        </p:nvSpPr>
        <p:spPr>
          <a:xfrm>
            <a:off x="7427238" y="2170152"/>
            <a:ext cx="6418302" cy="121920"/>
          </a:xfrm>
          <a:prstGeom prst="roundRect">
            <a:avLst>
              <a:gd name="adj" fmla="val 77253"/>
            </a:avLst>
          </a:prstGeom>
          <a:solidFill>
            <a:srgbClr val="A95B95"/>
          </a:solidFill>
          <a:ln/>
        </p:spPr>
        <p:txBody>
          <a:bodyPr/>
          <a:lstStyle/>
          <a:p>
            <a:endParaRPr lang="en-US"/>
          </a:p>
        </p:txBody>
      </p:sp>
      <p:sp>
        <p:nvSpPr>
          <p:cNvPr id="11" name="Shape 8"/>
          <p:cNvSpPr/>
          <p:nvPr/>
        </p:nvSpPr>
        <p:spPr>
          <a:xfrm>
            <a:off x="10299978" y="1864281"/>
            <a:ext cx="672703" cy="672703"/>
          </a:xfrm>
          <a:prstGeom prst="roundRect">
            <a:avLst>
              <a:gd name="adj" fmla="val 135929"/>
            </a:avLst>
          </a:prstGeom>
          <a:solidFill>
            <a:srgbClr val="A95B95"/>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10501789" y="2032397"/>
            <a:ext cx="269081" cy="336352"/>
          </a:xfrm>
          <a:prstGeom prst="rect">
            <a:avLst/>
          </a:prstGeom>
        </p:spPr>
      </p:pic>
      <p:sp>
        <p:nvSpPr>
          <p:cNvPr id="13" name="Text 9"/>
          <p:cNvSpPr/>
          <p:nvPr/>
        </p:nvSpPr>
        <p:spPr>
          <a:xfrm>
            <a:off x="7681912" y="2761178"/>
            <a:ext cx="2491621" cy="311468"/>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Data Preparation</a:t>
            </a:r>
            <a:endParaRPr lang="en-US" sz="1950" dirty="0"/>
          </a:p>
        </p:txBody>
      </p:sp>
      <p:sp>
        <p:nvSpPr>
          <p:cNvPr id="14" name="Text 10"/>
          <p:cNvSpPr/>
          <p:nvPr/>
        </p:nvSpPr>
        <p:spPr>
          <a:xfrm>
            <a:off x="7681912" y="3207187"/>
            <a:ext cx="5908953" cy="1076563"/>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Collect and preprocess historical Bitcoin market data, handling missing values, outliers, and normalizing attributes for model compatibility.</a:t>
            </a:r>
            <a:endParaRPr lang="en-US" sz="1750" dirty="0"/>
          </a:p>
        </p:txBody>
      </p:sp>
      <p:sp>
        <p:nvSpPr>
          <p:cNvPr id="15" name="Shape 11"/>
          <p:cNvSpPr/>
          <p:nvPr/>
        </p:nvSpPr>
        <p:spPr>
          <a:xfrm>
            <a:off x="784860" y="5098971"/>
            <a:ext cx="6418183" cy="2337792"/>
          </a:xfrm>
          <a:prstGeom prst="roundRect">
            <a:avLst>
              <a:gd name="adj" fmla="val 6258"/>
            </a:avLst>
          </a:prstGeom>
          <a:solidFill>
            <a:srgbClr val="0B0C23">
              <a:alpha val="95000"/>
            </a:srgbClr>
          </a:solidFill>
          <a:ln/>
        </p:spPr>
        <p:txBody>
          <a:bodyPr/>
          <a:lstStyle/>
          <a:p>
            <a:endParaRPr lang="en-US"/>
          </a:p>
        </p:txBody>
      </p:sp>
      <p:sp>
        <p:nvSpPr>
          <p:cNvPr id="16" name="Shape 12"/>
          <p:cNvSpPr/>
          <p:nvPr/>
        </p:nvSpPr>
        <p:spPr>
          <a:xfrm>
            <a:off x="784860" y="5068491"/>
            <a:ext cx="6418183" cy="121920"/>
          </a:xfrm>
          <a:prstGeom prst="roundRect">
            <a:avLst>
              <a:gd name="adj" fmla="val 77253"/>
            </a:avLst>
          </a:prstGeom>
          <a:solidFill>
            <a:srgbClr val="A95B95"/>
          </a:solidFill>
          <a:ln/>
        </p:spPr>
        <p:txBody>
          <a:bodyPr/>
          <a:lstStyle/>
          <a:p>
            <a:endParaRPr lang="en-US"/>
          </a:p>
        </p:txBody>
      </p:sp>
      <p:sp>
        <p:nvSpPr>
          <p:cNvPr id="17" name="Shape 13"/>
          <p:cNvSpPr/>
          <p:nvPr/>
        </p:nvSpPr>
        <p:spPr>
          <a:xfrm>
            <a:off x="3657600" y="4762619"/>
            <a:ext cx="672703" cy="672703"/>
          </a:xfrm>
          <a:prstGeom prst="roundRect">
            <a:avLst>
              <a:gd name="adj" fmla="val 135929"/>
            </a:avLst>
          </a:prstGeom>
          <a:solidFill>
            <a:srgbClr val="A95B95"/>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3859411" y="4930735"/>
            <a:ext cx="269081" cy="336352"/>
          </a:xfrm>
          <a:prstGeom prst="rect">
            <a:avLst/>
          </a:prstGeom>
        </p:spPr>
      </p:pic>
      <p:sp>
        <p:nvSpPr>
          <p:cNvPr id="19" name="Text 14"/>
          <p:cNvSpPr/>
          <p:nvPr/>
        </p:nvSpPr>
        <p:spPr>
          <a:xfrm>
            <a:off x="1039535" y="5659517"/>
            <a:ext cx="3241596" cy="311468"/>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Exploratory Analysis (EDA)</a:t>
            </a:r>
            <a:endParaRPr lang="en-US" sz="1950" dirty="0"/>
          </a:p>
        </p:txBody>
      </p:sp>
      <p:sp>
        <p:nvSpPr>
          <p:cNvPr id="20" name="Text 15"/>
          <p:cNvSpPr/>
          <p:nvPr/>
        </p:nvSpPr>
        <p:spPr>
          <a:xfrm>
            <a:off x="1039535" y="6105525"/>
            <a:ext cx="5908834" cy="1076563"/>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Conduct in-depth EDA to uncover meaningful insights, patterns, and interrelationships among key financial features and volatility.</a:t>
            </a:r>
            <a:endParaRPr lang="en-US" sz="1750" dirty="0"/>
          </a:p>
        </p:txBody>
      </p:sp>
      <p:sp>
        <p:nvSpPr>
          <p:cNvPr id="21" name="Shape 16"/>
          <p:cNvSpPr/>
          <p:nvPr/>
        </p:nvSpPr>
        <p:spPr>
          <a:xfrm>
            <a:off x="7427238" y="5098971"/>
            <a:ext cx="6418302" cy="2337792"/>
          </a:xfrm>
          <a:prstGeom prst="roundRect">
            <a:avLst>
              <a:gd name="adj" fmla="val 6258"/>
            </a:avLst>
          </a:prstGeom>
          <a:solidFill>
            <a:srgbClr val="0B0C23">
              <a:alpha val="95000"/>
            </a:srgbClr>
          </a:solidFill>
          <a:ln/>
        </p:spPr>
        <p:txBody>
          <a:bodyPr/>
          <a:lstStyle/>
          <a:p>
            <a:endParaRPr lang="en-US"/>
          </a:p>
        </p:txBody>
      </p:sp>
      <p:sp>
        <p:nvSpPr>
          <p:cNvPr id="22" name="Shape 17"/>
          <p:cNvSpPr/>
          <p:nvPr/>
        </p:nvSpPr>
        <p:spPr>
          <a:xfrm>
            <a:off x="7427238" y="5068491"/>
            <a:ext cx="6418302" cy="121920"/>
          </a:xfrm>
          <a:prstGeom prst="roundRect">
            <a:avLst>
              <a:gd name="adj" fmla="val 77253"/>
            </a:avLst>
          </a:prstGeom>
          <a:solidFill>
            <a:srgbClr val="A95B95"/>
          </a:solidFill>
          <a:ln/>
        </p:spPr>
        <p:txBody>
          <a:bodyPr/>
          <a:lstStyle/>
          <a:p>
            <a:endParaRPr lang="en-US"/>
          </a:p>
        </p:txBody>
      </p:sp>
      <p:sp>
        <p:nvSpPr>
          <p:cNvPr id="23" name="Shape 18"/>
          <p:cNvSpPr/>
          <p:nvPr/>
        </p:nvSpPr>
        <p:spPr>
          <a:xfrm>
            <a:off x="10299978" y="4762619"/>
            <a:ext cx="672703" cy="672703"/>
          </a:xfrm>
          <a:prstGeom prst="roundRect">
            <a:avLst>
              <a:gd name="adj" fmla="val 135929"/>
            </a:avLst>
          </a:prstGeom>
          <a:solidFill>
            <a:srgbClr val="A95B95"/>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501789" y="4930735"/>
            <a:ext cx="269081" cy="336352"/>
          </a:xfrm>
          <a:prstGeom prst="rect">
            <a:avLst/>
          </a:prstGeom>
        </p:spPr>
      </p:pic>
      <p:sp>
        <p:nvSpPr>
          <p:cNvPr id="25" name="Text 19"/>
          <p:cNvSpPr/>
          <p:nvPr/>
        </p:nvSpPr>
        <p:spPr>
          <a:xfrm>
            <a:off x="7681912" y="5659517"/>
            <a:ext cx="2491621" cy="311468"/>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Model Evaluation</a:t>
            </a:r>
            <a:endParaRPr lang="en-US" sz="1950" dirty="0"/>
          </a:p>
        </p:txBody>
      </p:sp>
      <p:sp>
        <p:nvSpPr>
          <p:cNvPr id="26" name="Text 20"/>
          <p:cNvSpPr/>
          <p:nvPr/>
        </p:nvSpPr>
        <p:spPr>
          <a:xfrm>
            <a:off x="7681912" y="6105525"/>
            <a:ext cx="5908953" cy="1076563"/>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Evaluate performance using statistical metrics (RMSE, MAE, R²) and visualization-based assessments comparing actual vs. predicted values.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1253" y="393859"/>
            <a:ext cx="5890022" cy="397907"/>
          </a:xfrm>
          <a:prstGeom prst="rect">
            <a:avLst/>
          </a:prstGeom>
          <a:noFill/>
          <a:ln/>
        </p:spPr>
        <p:txBody>
          <a:bodyPr wrap="none" lIns="0" tIns="0" rIns="0" bIns="0" rtlCol="0" anchor="t"/>
          <a:lstStyle/>
          <a:p>
            <a:pPr marL="0" indent="0" algn="l">
              <a:lnSpc>
                <a:spcPts val="3100"/>
              </a:lnSpc>
              <a:buNone/>
            </a:pPr>
            <a:r>
              <a:rPr lang="en-US" sz="2500" dirty="0">
                <a:solidFill>
                  <a:srgbClr val="C6BFEE"/>
                </a:solidFill>
                <a:latin typeface="Prompt Medium" pitchFamily="34" charset="0"/>
                <a:ea typeface="Prompt Medium" pitchFamily="34" charset="-122"/>
                <a:cs typeface="Prompt Medium" pitchFamily="34" charset="-120"/>
              </a:rPr>
              <a:t>Dataset: High-Granularity Market Data</a:t>
            </a:r>
            <a:endParaRPr lang="en-US" sz="2500" dirty="0"/>
          </a:p>
        </p:txBody>
      </p:sp>
      <p:sp>
        <p:nvSpPr>
          <p:cNvPr id="3" name="Text 1"/>
          <p:cNvSpPr/>
          <p:nvPr/>
        </p:nvSpPr>
        <p:spPr>
          <a:xfrm>
            <a:off x="501253" y="1135380"/>
            <a:ext cx="6639282" cy="458153"/>
          </a:xfrm>
          <a:prstGeom prst="rect">
            <a:avLst/>
          </a:prstGeom>
          <a:noFill/>
          <a:ln/>
        </p:spPr>
        <p:txBody>
          <a:bodyPr wrap="square" lIns="0" tIns="0" rIns="0" bIns="0" rtlCol="0" anchor="t"/>
          <a:lstStyle/>
          <a:p>
            <a:pPr marL="0" indent="0" algn="l">
              <a:lnSpc>
                <a:spcPts val="1800"/>
              </a:lnSpc>
              <a:buNone/>
            </a:pPr>
            <a:r>
              <a:rPr lang="en-US" sz="1100" dirty="0">
                <a:solidFill>
                  <a:srgbClr val="DAD8E9"/>
                </a:solidFill>
                <a:latin typeface="Mukta Light" pitchFamily="34" charset="0"/>
                <a:ea typeface="Mukta Light" pitchFamily="34" charset="-122"/>
                <a:cs typeface="Mukta Light" pitchFamily="34" charset="-120"/>
              </a:rPr>
              <a:t>The study uses comprehensive Bitcoin market data for the year </a:t>
            </a:r>
            <a:r>
              <a:rPr lang="en-US" sz="1100" b="1" dirty="0">
                <a:solidFill>
                  <a:srgbClr val="DAD8E9"/>
                </a:solidFill>
                <a:latin typeface="Mukta Light" pitchFamily="34" charset="0"/>
                <a:ea typeface="Mukta Light" pitchFamily="34" charset="-122"/>
                <a:cs typeface="Mukta Light" pitchFamily="34" charset="-120"/>
              </a:rPr>
              <a:t>2017</a:t>
            </a:r>
            <a:r>
              <a:rPr lang="en-US" sz="1100" dirty="0">
                <a:solidFill>
                  <a:srgbClr val="DAD8E9"/>
                </a:solidFill>
                <a:latin typeface="Mukta Light" pitchFamily="34" charset="0"/>
                <a:ea typeface="Mukta Light" pitchFamily="34" charset="-122"/>
                <a:cs typeface="Mukta Light" pitchFamily="34" charset="-120"/>
              </a:rPr>
              <a:t>, sourced from Kaggle. The dataset contains approximately </a:t>
            </a:r>
            <a:r>
              <a:rPr lang="en-US" sz="1100" b="1" dirty="0">
                <a:solidFill>
                  <a:srgbClr val="DAD8E9"/>
                </a:solidFill>
                <a:latin typeface="Mukta Light" pitchFamily="34" charset="0"/>
                <a:ea typeface="Mukta Light" pitchFamily="34" charset="-122"/>
                <a:cs typeface="Mukta Light" pitchFamily="34" charset="-120"/>
              </a:rPr>
              <a:t>525,599 rows</a:t>
            </a:r>
            <a:r>
              <a:rPr lang="en-US" sz="1100" dirty="0">
                <a:solidFill>
                  <a:srgbClr val="DAD8E9"/>
                </a:solidFill>
                <a:latin typeface="Mukta Light" pitchFamily="34" charset="0"/>
                <a:ea typeface="Mukta Light" pitchFamily="34" charset="-122"/>
                <a:cs typeface="Mukta Light" pitchFamily="34" charset="-120"/>
              </a:rPr>
              <a:t> recorded at </a:t>
            </a:r>
            <a:r>
              <a:rPr lang="en-US" sz="1100" b="1" dirty="0">
                <a:solidFill>
                  <a:srgbClr val="DAD8E9"/>
                </a:solidFill>
                <a:latin typeface="Mukta Light" pitchFamily="34" charset="0"/>
                <a:ea typeface="Mukta Light" pitchFamily="34" charset="-122"/>
                <a:cs typeface="Mukta Light" pitchFamily="34" charset="-120"/>
              </a:rPr>
              <a:t>minute-level intervals</a:t>
            </a:r>
            <a:r>
              <a:rPr lang="en-US" sz="1100" dirty="0">
                <a:solidFill>
                  <a:srgbClr val="DAD8E9"/>
                </a:solidFill>
                <a:latin typeface="Mukta Light" pitchFamily="34" charset="0"/>
                <a:ea typeface="Mukta Light" pitchFamily="34" charset="-122"/>
                <a:cs typeface="Mukta Light" pitchFamily="34" charset="-120"/>
              </a:rPr>
              <a:t>.</a:t>
            </a:r>
            <a:endParaRPr lang="en-US" sz="1100" dirty="0"/>
          </a:p>
        </p:txBody>
      </p:sp>
      <p:sp>
        <p:nvSpPr>
          <p:cNvPr id="4" name="Text 2"/>
          <p:cNvSpPr/>
          <p:nvPr/>
        </p:nvSpPr>
        <p:spPr>
          <a:xfrm>
            <a:off x="501253" y="1722358"/>
            <a:ext cx="6639282" cy="458153"/>
          </a:xfrm>
          <a:prstGeom prst="rect">
            <a:avLst/>
          </a:prstGeom>
          <a:noFill/>
          <a:ln/>
        </p:spPr>
        <p:txBody>
          <a:bodyPr wrap="square" lIns="0" tIns="0" rIns="0" bIns="0" rtlCol="0" anchor="t"/>
          <a:lstStyle/>
          <a:p>
            <a:pPr marL="0" indent="0" algn="l">
              <a:lnSpc>
                <a:spcPts val="1800"/>
              </a:lnSpc>
              <a:buNone/>
            </a:pPr>
            <a:r>
              <a:rPr lang="en-US" sz="1100" dirty="0">
                <a:solidFill>
                  <a:srgbClr val="DAD8E9"/>
                </a:solidFill>
                <a:latin typeface="Mukta Light" pitchFamily="34" charset="0"/>
                <a:ea typeface="Mukta Light" pitchFamily="34" charset="-122"/>
                <a:cs typeface="Mukta Light" pitchFamily="34" charset="-120"/>
              </a:rPr>
              <a:t>This high-frequency data captures the dynamic microstructure of the Bitcoin market, providing a strong empirical foundation for advanced LSTM-based sequence modeling.</a:t>
            </a:r>
            <a:endParaRPr lang="en-US" sz="1100" dirty="0"/>
          </a:p>
        </p:txBody>
      </p:sp>
      <p:pic>
        <p:nvPicPr>
          <p:cNvPr id="5" name="Image 0" descr="preencoded.png"/>
          <p:cNvPicPr>
            <a:picLocks noChangeAspect="1"/>
          </p:cNvPicPr>
          <p:nvPr/>
        </p:nvPicPr>
        <p:blipFill>
          <a:blip r:embed="rId3"/>
          <a:stretch>
            <a:fillRect/>
          </a:stretch>
        </p:blipFill>
        <p:spPr>
          <a:xfrm>
            <a:off x="501253" y="2341602"/>
            <a:ext cx="6639282" cy="6639282"/>
          </a:xfrm>
          <a:prstGeom prst="rect">
            <a:avLst/>
          </a:prstGeom>
        </p:spPr>
      </p:pic>
      <p:sp>
        <p:nvSpPr>
          <p:cNvPr id="6" name="Text 3"/>
          <p:cNvSpPr/>
          <p:nvPr/>
        </p:nvSpPr>
        <p:spPr>
          <a:xfrm>
            <a:off x="7497485" y="1149787"/>
            <a:ext cx="1909882" cy="238720"/>
          </a:xfrm>
          <a:prstGeom prst="rect">
            <a:avLst/>
          </a:prstGeom>
          <a:noFill/>
          <a:ln/>
        </p:spPr>
        <p:txBody>
          <a:bodyPr wrap="none" lIns="0" tIns="0" rIns="0" bIns="0" rtlCol="0" anchor="t"/>
          <a:lstStyle/>
          <a:p>
            <a:pPr marL="0" indent="0" algn="l">
              <a:lnSpc>
                <a:spcPts val="1850"/>
              </a:lnSpc>
              <a:buNone/>
            </a:pPr>
            <a:r>
              <a:rPr lang="en-US" sz="1500" dirty="0">
                <a:solidFill>
                  <a:srgbClr val="C6BFEE"/>
                </a:solidFill>
                <a:latin typeface="Prompt Medium" pitchFamily="34" charset="0"/>
                <a:ea typeface="Prompt Medium" pitchFamily="34" charset="-122"/>
                <a:cs typeface="Prompt Medium" pitchFamily="34" charset="-120"/>
              </a:rPr>
              <a:t>Key Attributes</a:t>
            </a:r>
            <a:endParaRPr lang="en-US" sz="1500" dirty="0"/>
          </a:p>
        </p:txBody>
      </p:sp>
      <p:sp>
        <p:nvSpPr>
          <p:cNvPr id="7" name="Shape 4"/>
          <p:cNvSpPr/>
          <p:nvPr/>
        </p:nvSpPr>
        <p:spPr>
          <a:xfrm>
            <a:off x="7497485" y="1628358"/>
            <a:ext cx="71557" cy="71557"/>
          </a:xfrm>
          <a:prstGeom prst="roundRect">
            <a:avLst>
              <a:gd name="adj" fmla="val 638931"/>
            </a:avLst>
          </a:prstGeom>
          <a:solidFill>
            <a:srgbClr val="A95B95"/>
          </a:solidFill>
          <a:ln/>
        </p:spPr>
        <p:txBody>
          <a:bodyPr/>
          <a:lstStyle/>
          <a:p>
            <a:endParaRPr lang="en-US"/>
          </a:p>
        </p:txBody>
      </p:sp>
      <p:sp>
        <p:nvSpPr>
          <p:cNvPr id="8" name="Text 5"/>
          <p:cNvSpPr/>
          <p:nvPr/>
        </p:nvSpPr>
        <p:spPr>
          <a:xfrm>
            <a:off x="7712273" y="1549598"/>
            <a:ext cx="6424493" cy="229076"/>
          </a:xfrm>
          <a:prstGeom prst="rect">
            <a:avLst/>
          </a:prstGeom>
          <a:noFill/>
          <a:ln/>
        </p:spPr>
        <p:txBody>
          <a:bodyPr wrap="none" lIns="0" tIns="0" rIns="0" bIns="0" rtlCol="0" anchor="t"/>
          <a:lstStyle/>
          <a:p>
            <a:pPr marL="0" indent="0" algn="l">
              <a:lnSpc>
                <a:spcPts val="1800"/>
              </a:lnSpc>
              <a:buNone/>
            </a:pPr>
            <a:r>
              <a:rPr lang="en-US" sz="1100" b="1" dirty="0">
                <a:solidFill>
                  <a:srgbClr val="DAD8E9"/>
                </a:solidFill>
                <a:latin typeface="Mukta Light" pitchFamily="34" charset="0"/>
                <a:ea typeface="Mukta Light" pitchFamily="34" charset="-122"/>
                <a:cs typeface="Mukta Light" pitchFamily="34" charset="-120"/>
              </a:rPr>
              <a:t>unix / date:</a:t>
            </a:r>
            <a:r>
              <a:rPr lang="en-US" sz="1100" dirty="0">
                <a:solidFill>
                  <a:srgbClr val="DAD8E9"/>
                </a:solidFill>
                <a:latin typeface="Mukta Light" pitchFamily="34" charset="0"/>
                <a:ea typeface="Mukta Light" pitchFamily="34" charset="-122"/>
                <a:cs typeface="Mukta Light" pitchFamily="34" charset="-120"/>
              </a:rPr>
              <a:t> Timestamp and calendar date.</a:t>
            </a:r>
            <a:endParaRPr lang="en-US" sz="1100" dirty="0"/>
          </a:p>
        </p:txBody>
      </p:sp>
      <p:sp>
        <p:nvSpPr>
          <p:cNvPr id="9" name="Shape 6"/>
          <p:cNvSpPr/>
          <p:nvPr/>
        </p:nvSpPr>
        <p:spPr>
          <a:xfrm>
            <a:off x="7497485" y="2143899"/>
            <a:ext cx="71557" cy="71557"/>
          </a:xfrm>
          <a:prstGeom prst="roundRect">
            <a:avLst>
              <a:gd name="adj" fmla="val 638931"/>
            </a:avLst>
          </a:prstGeom>
          <a:solidFill>
            <a:srgbClr val="A95B95"/>
          </a:solidFill>
          <a:ln/>
        </p:spPr>
        <p:txBody>
          <a:bodyPr/>
          <a:lstStyle/>
          <a:p>
            <a:endParaRPr lang="en-US"/>
          </a:p>
        </p:txBody>
      </p:sp>
      <p:sp>
        <p:nvSpPr>
          <p:cNvPr id="10" name="Text 7"/>
          <p:cNvSpPr/>
          <p:nvPr/>
        </p:nvSpPr>
        <p:spPr>
          <a:xfrm>
            <a:off x="7712273" y="2065139"/>
            <a:ext cx="6424493" cy="229076"/>
          </a:xfrm>
          <a:prstGeom prst="rect">
            <a:avLst/>
          </a:prstGeom>
          <a:noFill/>
          <a:ln/>
        </p:spPr>
        <p:txBody>
          <a:bodyPr wrap="none" lIns="0" tIns="0" rIns="0" bIns="0" rtlCol="0" anchor="t"/>
          <a:lstStyle/>
          <a:p>
            <a:pPr marL="0" indent="0" algn="l">
              <a:lnSpc>
                <a:spcPts val="1800"/>
              </a:lnSpc>
              <a:buNone/>
            </a:pPr>
            <a:r>
              <a:rPr lang="en-US" sz="1100" b="1" dirty="0">
                <a:solidFill>
                  <a:srgbClr val="DAD8E9"/>
                </a:solidFill>
                <a:latin typeface="Mukta Light" pitchFamily="34" charset="0"/>
                <a:ea typeface="Mukta Light" pitchFamily="34" charset="-122"/>
                <a:cs typeface="Mukta Light" pitchFamily="34" charset="-120"/>
              </a:rPr>
              <a:t>symbol:</a:t>
            </a:r>
            <a:r>
              <a:rPr lang="en-US" sz="1100" dirty="0">
                <a:solidFill>
                  <a:srgbClr val="DAD8E9"/>
                </a:solidFill>
                <a:latin typeface="Mukta Light" pitchFamily="34" charset="0"/>
                <a:ea typeface="Mukta Light" pitchFamily="34" charset="-122"/>
                <a:cs typeface="Mukta Light" pitchFamily="34" charset="-120"/>
              </a:rPr>
              <a:t> Identifier (BTCUSD).</a:t>
            </a:r>
            <a:endParaRPr lang="en-US" sz="1100" dirty="0"/>
          </a:p>
        </p:txBody>
      </p:sp>
      <p:sp>
        <p:nvSpPr>
          <p:cNvPr id="11" name="Shape 8"/>
          <p:cNvSpPr/>
          <p:nvPr/>
        </p:nvSpPr>
        <p:spPr>
          <a:xfrm>
            <a:off x="7497485" y="2659440"/>
            <a:ext cx="71557" cy="71557"/>
          </a:xfrm>
          <a:prstGeom prst="roundRect">
            <a:avLst>
              <a:gd name="adj" fmla="val 638931"/>
            </a:avLst>
          </a:prstGeom>
          <a:solidFill>
            <a:srgbClr val="A95B95"/>
          </a:solidFill>
          <a:ln/>
        </p:spPr>
        <p:txBody>
          <a:bodyPr/>
          <a:lstStyle/>
          <a:p>
            <a:endParaRPr lang="en-US"/>
          </a:p>
        </p:txBody>
      </p:sp>
      <p:sp>
        <p:nvSpPr>
          <p:cNvPr id="12" name="Text 9"/>
          <p:cNvSpPr/>
          <p:nvPr/>
        </p:nvSpPr>
        <p:spPr>
          <a:xfrm>
            <a:off x="7712273" y="2580680"/>
            <a:ext cx="6424493" cy="229076"/>
          </a:xfrm>
          <a:prstGeom prst="rect">
            <a:avLst/>
          </a:prstGeom>
          <a:noFill/>
          <a:ln/>
        </p:spPr>
        <p:txBody>
          <a:bodyPr wrap="none" lIns="0" tIns="0" rIns="0" bIns="0" rtlCol="0" anchor="t"/>
          <a:lstStyle/>
          <a:p>
            <a:pPr marL="0" indent="0" algn="l">
              <a:lnSpc>
                <a:spcPts val="1800"/>
              </a:lnSpc>
              <a:buNone/>
            </a:pPr>
            <a:r>
              <a:rPr lang="en-US" sz="1100" b="1" dirty="0">
                <a:solidFill>
                  <a:srgbClr val="DAD8E9"/>
                </a:solidFill>
                <a:latin typeface="Mukta Light" pitchFamily="34" charset="0"/>
                <a:ea typeface="Mukta Light" pitchFamily="34" charset="-122"/>
                <a:cs typeface="Mukta Light" pitchFamily="34" charset="-120"/>
              </a:rPr>
              <a:t>open, high, low, close:</a:t>
            </a:r>
            <a:r>
              <a:rPr lang="en-US" sz="1100" dirty="0">
                <a:solidFill>
                  <a:srgbClr val="DAD8E9"/>
                </a:solidFill>
                <a:latin typeface="Mukta Light" pitchFamily="34" charset="0"/>
                <a:ea typeface="Mukta Light" pitchFamily="34" charset="-122"/>
                <a:cs typeface="Mukta Light" pitchFamily="34" charset="-120"/>
              </a:rPr>
              <a:t> Price metrics (Close is the target variable).</a:t>
            </a:r>
            <a:endParaRPr lang="en-US" sz="1100" dirty="0"/>
          </a:p>
        </p:txBody>
      </p:sp>
      <p:sp>
        <p:nvSpPr>
          <p:cNvPr id="13" name="Shape 10"/>
          <p:cNvSpPr/>
          <p:nvPr/>
        </p:nvSpPr>
        <p:spPr>
          <a:xfrm>
            <a:off x="7497485" y="3174980"/>
            <a:ext cx="71557" cy="71557"/>
          </a:xfrm>
          <a:prstGeom prst="roundRect">
            <a:avLst>
              <a:gd name="adj" fmla="val 638931"/>
            </a:avLst>
          </a:prstGeom>
          <a:solidFill>
            <a:srgbClr val="A95B95"/>
          </a:solidFill>
          <a:ln/>
        </p:spPr>
        <p:txBody>
          <a:bodyPr/>
          <a:lstStyle/>
          <a:p>
            <a:endParaRPr lang="en-US"/>
          </a:p>
        </p:txBody>
      </p:sp>
      <p:sp>
        <p:nvSpPr>
          <p:cNvPr id="14" name="Text 11"/>
          <p:cNvSpPr/>
          <p:nvPr/>
        </p:nvSpPr>
        <p:spPr>
          <a:xfrm>
            <a:off x="7712273" y="3096220"/>
            <a:ext cx="6424493" cy="229076"/>
          </a:xfrm>
          <a:prstGeom prst="rect">
            <a:avLst/>
          </a:prstGeom>
          <a:noFill/>
          <a:ln/>
        </p:spPr>
        <p:txBody>
          <a:bodyPr wrap="none" lIns="0" tIns="0" rIns="0" bIns="0" rtlCol="0" anchor="t"/>
          <a:lstStyle/>
          <a:p>
            <a:pPr marL="0" indent="0" algn="l">
              <a:lnSpc>
                <a:spcPts val="1800"/>
              </a:lnSpc>
              <a:buNone/>
            </a:pPr>
            <a:r>
              <a:rPr lang="en-US" sz="1100" b="1" dirty="0">
                <a:solidFill>
                  <a:srgbClr val="DAD8E9"/>
                </a:solidFill>
                <a:latin typeface="Mukta Light" pitchFamily="34" charset="0"/>
                <a:ea typeface="Mukta Light" pitchFamily="34" charset="-122"/>
                <a:cs typeface="Mukta Light" pitchFamily="34" charset="-120"/>
              </a:rPr>
              <a:t>Volume BTC / Volume USD:</a:t>
            </a:r>
            <a:r>
              <a:rPr lang="en-US" sz="1100" dirty="0">
                <a:solidFill>
                  <a:srgbClr val="DAD8E9"/>
                </a:solidFill>
                <a:latin typeface="Mukta Light" pitchFamily="34" charset="0"/>
                <a:ea typeface="Mukta Light" pitchFamily="34" charset="-122"/>
                <a:cs typeface="Mukta Light" pitchFamily="34" charset="-120"/>
              </a:rPr>
              <a:t> Total trading volume in Bitcoin and U.S. dollars.</a:t>
            </a:r>
            <a:endParaRPr lang="en-US" sz="1100" dirty="0"/>
          </a:p>
        </p:txBody>
      </p:sp>
      <p:sp>
        <p:nvSpPr>
          <p:cNvPr id="15" name="Shape 12"/>
          <p:cNvSpPr/>
          <p:nvPr/>
        </p:nvSpPr>
        <p:spPr>
          <a:xfrm>
            <a:off x="7497485" y="3486388"/>
            <a:ext cx="6639282" cy="837486"/>
          </a:xfrm>
          <a:prstGeom prst="roundRect">
            <a:avLst>
              <a:gd name="adj" fmla="val 7184"/>
            </a:avLst>
          </a:prstGeom>
          <a:solidFill>
            <a:srgbClr val="321A2C"/>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640717" y="3692366"/>
            <a:ext cx="178951" cy="143232"/>
          </a:xfrm>
          <a:prstGeom prst="rect">
            <a:avLst/>
          </a:prstGeom>
        </p:spPr>
      </p:pic>
      <p:sp>
        <p:nvSpPr>
          <p:cNvPr id="17" name="Text 13"/>
          <p:cNvSpPr/>
          <p:nvPr/>
        </p:nvSpPr>
        <p:spPr>
          <a:xfrm>
            <a:off x="7962900" y="3665339"/>
            <a:ext cx="6030635" cy="458153"/>
          </a:xfrm>
          <a:prstGeom prst="rect">
            <a:avLst/>
          </a:prstGeom>
          <a:noFill/>
          <a:ln/>
        </p:spPr>
        <p:txBody>
          <a:bodyPr wrap="square" lIns="0" tIns="0" rIns="0" bIns="0" rtlCol="0" anchor="t"/>
          <a:lstStyle/>
          <a:p>
            <a:pPr marL="0" indent="0" algn="l">
              <a:lnSpc>
                <a:spcPts val="1800"/>
              </a:lnSpc>
              <a:buNone/>
            </a:pPr>
            <a:r>
              <a:rPr lang="en-US" sz="1100" dirty="0">
                <a:solidFill>
                  <a:srgbClr val="FFFFFF"/>
                </a:solidFill>
                <a:latin typeface="Mukta Light" pitchFamily="34" charset="0"/>
                <a:ea typeface="Mukta Light" pitchFamily="34" charset="-122"/>
                <a:cs typeface="Mukta Light" pitchFamily="34" charset="-120"/>
              </a:rPr>
              <a:t>Data preprocessing included Min-Max scaling for normalization and organization into an SQLite database for efficient retrieval.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0" y="0"/>
            <a:ext cx="9144000" cy="8229600"/>
          </a:xfrm>
          <a:prstGeom prst="rect">
            <a:avLst/>
          </a:prstGeom>
        </p:spPr>
      </p:pic>
      <p:pic>
        <p:nvPicPr>
          <p:cNvPr id="3" name="Image 1" descr="preencoded.png"/>
          <p:cNvPicPr>
            <a:picLocks noChangeAspect="1"/>
          </p:cNvPicPr>
          <p:nvPr/>
        </p:nvPicPr>
        <p:blipFill>
          <a:blip r:embed="rId4"/>
          <a:stretch>
            <a:fillRect/>
          </a:stretch>
        </p:blipFill>
        <p:spPr>
          <a:xfrm>
            <a:off x="5724049" y="845939"/>
            <a:ext cx="8668583" cy="6537603"/>
          </a:xfrm>
          <a:prstGeom prst="rect">
            <a:avLst/>
          </a:prstGeom>
        </p:spPr>
      </p:pic>
      <p:sp>
        <p:nvSpPr>
          <p:cNvPr id="4" name="Text 0"/>
          <p:cNvSpPr/>
          <p:nvPr/>
        </p:nvSpPr>
        <p:spPr>
          <a:xfrm>
            <a:off x="665440" y="534352"/>
            <a:ext cx="4155519" cy="1056323"/>
          </a:xfrm>
          <a:prstGeom prst="rect">
            <a:avLst/>
          </a:prstGeom>
          <a:noFill/>
          <a:ln/>
        </p:spPr>
        <p:txBody>
          <a:bodyPr wrap="square" lIns="0" tIns="0" rIns="0" bIns="0" rtlCol="0" anchor="t"/>
          <a:lstStyle/>
          <a:p>
            <a:pPr marL="0" indent="0" algn="l">
              <a:lnSpc>
                <a:spcPts val="4150"/>
              </a:lnSpc>
              <a:buNone/>
            </a:pPr>
            <a:r>
              <a:rPr lang="en-US" sz="3300" dirty="0">
                <a:solidFill>
                  <a:srgbClr val="C6BFEE"/>
                </a:solidFill>
                <a:latin typeface="Prompt Medium" pitchFamily="34" charset="0"/>
                <a:ea typeface="Prompt Medium" pitchFamily="34" charset="-122"/>
                <a:cs typeface="Prompt Medium" pitchFamily="34" charset="-120"/>
              </a:rPr>
              <a:t>EDA: The Parabolic Bull Run of 2017</a:t>
            </a:r>
            <a:endParaRPr lang="en-US" sz="3300" dirty="0"/>
          </a:p>
        </p:txBody>
      </p:sp>
      <p:sp>
        <p:nvSpPr>
          <p:cNvPr id="5" name="Shape 1"/>
          <p:cNvSpPr/>
          <p:nvPr/>
        </p:nvSpPr>
        <p:spPr>
          <a:xfrm>
            <a:off x="665440" y="1875830"/>
            <a:ext cx="22860" cy="5819418"/>
          </a:xfrm>
          <a:prstGeom prst="roundRect">
            <a:avLst>
              <a:gd name="adj" fmla="val 349375"/>
            </a:avLst>
          </a:prstGeom>
          <a:solidFill>
            <a:srgbClr val="6D4562"/>
          </a:solidFill>
          <a:ln/>
        </p:spPr>
        <p:txBody>
          <a:bodyPr/>
          <a:lstStyle/>
          <a:p>
            <a:endParaRPr lang="en-US"/>
          </a:p>
        </p:txBody>
      </p:sp>
      <p:sp>
        <p:nvSpPr>
          <p:cNvPr id="6" name="Shape 2"/>
          <p:cNvSpPr/>
          <p:nvPr/>
        </p:nvSpPr>
        <p:spPr>
          <a:xfrm>
            <a:off x="688300" y="1875830"/>
            <a:ext cx="4155519" cy="1686282"/>
          </a:xfrm>
          <a:prstGeom prst="rect">
            <a:avLst/>
          </a:prstGeom>
          <a:solidFill>
            <a:srgbClr val="542C49"/>
          </a:solidFill>
          <a:ln w="7620">
            <a:solidFill>
              <a:srgbClr val="6D4562"/>
            </a:solidFill>
            <a:prstDash val="solid"/>
          </a:ln>
        </p:spPr>
        <p:txBody>
          <a:bodyPr/>
          <a:lstStyle/>
          <a:p>
            <a:endParaRPr lang="en-US"/>
          </a:p>
        </p:txBody>
      </p:sp>
      <p:sp>
        <p:nvSpPr>
          <p:cNvPr id="7" name="Text 3"/>
          <p:cNvSpPr/>
          <p:nvPr/>
        </p:nvSpPr>
        <p:spPr>
          <a:xfrm>
            <a:off x="878443" y="2073593"/>
            <a:ext cx="2112883" cy="264081"/>
          </a:xfrm>
          <a:prstGeom prst="rect">
            <a:avLst/>
          </a:prstGeom>
          <a:noFill/>
          <a:ln/>
        </p:spPr>
        <p:txBody>
          <a:bodyPr wrap="none" lIns="0" tIns="0" rIns="0" bIns="0" rtlCol="0" anchor="t"/>
          <a:lstStyle/>
          <a:p>
            <a:pPr marL="0" indent="0" algn="l">
              <a:lnSpc>
                <a:spcPts val="2050"/>
              </a:lnSpc>
              <a:buNone/>
            </a:pPr>
            <a:r>
              <a:rPr lang="en-US" sz="1650" dirty="0">
                <a:solidFill>
                  <a:srgbClr val="DAD8E9"/>
                </a:solidFill>
                <a:latin typeface="Prompt Medium" pitchFamily="34" charset="0"/>
                <a:ea typeface="Prompt Medium" pitchFamily="34" charset="-122"/>
                <a:cs typeface="Prompt Medium" pitchFamily="34" charset="-120"/>
              </a:rPr>
              <a:t>Exponential Growth</a:t>
            </a:r>
            <a:endParaRPr lang="en-US" sz="1650" dirty="0"/>
          </a:p>
        </p:txBody>
      </p:sp>
      <p:sp>
        <p:nvSpPr>
          <p:cNvPr id="8" name="Text 4"/>
          <p:cNvSpPr/>
          <p:nvPr/>
        </p:nvSpPr>
        <p:spPr>
          <a:xfrm>
            <a:off x="878443" y="2451735"/>
            <a:ext cx="3767614" cy="912614"/>
          </a:xfrm>
          <a:prstGeom prst="rect">
            <a:avLst/>
          </a:prstGeom>
          <a:noFill/>
          <a:ln/>
        </p:spPr>
        <p:txBody>
          <a:bodyPr wrap="square" lIns="0" tIns="0" rIns="0" bIns="0" rtlCol="0" anchor="t"/>
          <a:lstStyle/>
          <a:p>
            <a:pPr marL="0" indent="0" algn="l">
              <a:lnSpc>
                <a:spcPts val="2350"/>
              </a:lnSpc>
              <a:buNone/>
            </a:pPr>
            <a:r>
              <a:rPr lang="en-US" sz="1450" dirty="0">
                <a:solidFill>
                  <a:srgbClr val="DAD8E9"/>
                </a:solidFill>
                <a:latin typeface="Mukta Light" pitchFamily="34" charset="0"/>
                <a:ea typeface="Mukta Light" pitchFamily="34" charset="-122"/>
                <a:cs typeface="Mukta Light" pitchFamily="34" charset="-120"/>
              </a:rPr>
              <a:t>Price surged from under $1,000 to a peak near $20,000 by mid-December, followed by a sharp correction.</a:t>
            </a:r>
            <a:endParaRPr lang="en-US" sz="1450" dirty="0"/>
          </a:p>
        </p:txBody>
      </p:sp>
      <p:sp>
        <p:nvSpPr>
          <p:cNvPr id="9" name="Shape 5"/>
          <p:cNvSpPr/>
          <p:nvPr/>
        </p:nvSpPr>
        <p:spPr>
          <a:xfrm>
            <a:off x="688300" y="3942398"/>
            <a:ext cx="4155519" cy="1686282"/>
          </a:xfrm>
          <a:prstGeom prst="rect">
            <a:avLst/>
          </a:prstGeom>
          <a:solidFill>
            <a:srgbClr val="542C49"/>
          </a:solidFill>
          <a:ln w="7620">
            <a:solidFill>
              <a:srgbClr val="6D4562"/>
            </a:solidFill>
            <a:prstDash val="solid"/>
          </a:ln>
        </p:spPr>
        <p:txBody>
          <a:bodyPr/>
          <a:lstStyle/>
          <a:p>
            <a:endParaRPr lang="en-US"/>
          </a:p>
        </p:txBody>
      </p:sp>
      <p:sp>
        <p:nvSpPr>
          <p:cNvPr id="10" name="Text 6"/>
          <p:cNvSpPr/>
          <p:nvPr/>
        </p:nvSpPr>
        <p:spPr>
          <a:xfrm>
            <a:off x="878443" y="4140160"/>
            <a:ext cx="2112883" cy="264081"/>
          </a:xfrm>
          <a:prstGeom prst="rect">
            <a:avLst/>
          </a:prstGeom>
          <a:noFill/>
          <a:ln/>
        </p:spPr>
        <p:txBody>
          <a:bodyPr wrap="none" lIns="0" tIns="0" rIns="0" bIns="0" rtlCol="0" anchor="t"/>
          <a:lstStyle/>
          <a:p>
            <a:pPr marL="0" indent="0" algn="l">
              <a:lnSpc>
                <a:spcPts val="2050"/>
              </a:lnSpc>
              <a:buNone/>
            </a:pPr>
            <a:r>
              <a:rPr lang="en-US" sz="1650" dirty="0">
                <a:solidFill>
                  <a:srgbClr val="DAD8E9"/>
                </a:solidFill>
                <a:latin typeface="Prompt Medium" pitchFamily="34" charset="0"/>
                <a:ea typeface="Prompt Medium" pitchFamily="34" charset="-122"/>
                <a:cs typeface="Prompt Medium" pitchFamily="34" charset="-120"/>
              </a:rPr>
              <a:t>Exploding Volatility</a:t>
            </a:r>
            <a:endParaRPr lang="en-US" sz="1650" dirty="0"/>
          </a:p>
        </p:txBody>
      </p:sp>
      <p:sp>
        <p:nvSpPr>
          <p:cNvPr id="11" name="Text 7"/>
          <p:cNvSpPr/>
          <p:nvPr/>
        </p:nvSpPr>
        <p:spPr>
          <a:xfrm>
            <a:off x="878443" y="4518303"/>
            <a:ext cx="3767614" cy="912614"/>
          </a:xfrm>
          <a:prstGeom prst="rect">
            <a:avLst/>
          </a:prstGeom>
          <a:noFill/>
          <a:ln/>
        </p:spPr>
        <p:txBody>
          <a:bodyPr wrap="square" lIns="0" tIns="0" rIns="0" bIns="0" rtlCol="0" anchor="t"/>
          <a:lstStyle/>
          <a:p>
            <a:pPr marL="0" indent="0" algn="l">
              <a:lnSpc>
                <a:spcPts val="2350"/>
              </a:lnSpc>
              <a:buNone/>
            </a:pPr>
            <a:r>
              <a:rPr lang="en-US" sz="1450" dirty="0">
                <a:solidFill>
                  <a:srgbClr val="DAD8E9"/>
                </a:solidFill>
                <a:latin typeface="Mukta Light" pitchFamily="34" charset="0"/>
                <a:ea typeface="Mukta Light" pitchFamily="34" charset="-122"/>
                <a:cs typeface="Mukta Light" pitchFamily="34" charset="-120"/>
              </a:rPr>
              <a:t>Intraday price swings increased massively in the latter half of the year, confirmed by widening 7-day rolling volatility bands.</a:t>
            </a:r>
            <a:endParaRPr lang="en-US" sz="1450" dirty="0"/>
          </a:p>
        </p:txBody>
      </p:sp>
      <p:sp>
        <p:nvSpPr>
          <p:cNvPr id="12" name="Shape 8"/>
          <p:cNvSpPr/>
          <p:nvPr/>
        </p:nvSpPr>
        <p:spPr>
          <a:xfrm>
            <a:off x="688300" y="6008965"/>
            <a:ext cx="4155519" cy="1686282"/>
          </a:xfrm>
          <a:prstGeom prst="rect">
            <a:avLst/>
          </a:prstGeom>
          <a:solidFill>
            <a:srgbClr val="542C49"/>
          </a:solidFill>
          <a:ln w="7620">
            <a:solidFill>
              <a:srgbClr val="6D4562"/>
            </a:solidFill>
            <a:prstDash val="solid"/>
          </a:ln>
        </p:spPr>
        <p:txBody>
          <a:bodyPr/>
          <a:lstStyle/>
          <a:p>
            <a:endParaRPr lang="en-US"/>
          </a:p>
        </p:txBody>
      </p:sp>
      <p:sp>
        <p:nvSpPr>
          <p:cNvPr id="13" name="Text 9"/>
          <p:cNvSpPr/>
          <p:nvPr/>
        </p:nvSpPr>
        <p:spPr>
          <a:xfrm>
            <a:off x="878443" y="6206728"/>
            <a:ext cx="2112883" cy="264081"/>
          </a:xfrm>
          <a:prstGeom prst="rect">
            <a:avLst/>
          </a:prstGeom>
          <a:noFill/>
          <a:ln/>
        </p:spPr>
        <p:txBody>
          <a:bodyPr wrap="none" lIns="0" tIns="0" rIns="0" bIns="0" rtlCol="0" anchor="t"/>
          <a:lstStyle/>
          <a:p>
            <a:pPr marL="0" indent="0" algn="l">
              <a:lnSpc>
                <a:spcPts val="2050"/>
              </a:lnSpc>
              <a:buNone/>
            </a:pPr>
            <a:r>
              <a:rPr lang="en-US" sz="1650" dirty="0">
                <a:solidFill>
                  <a:srgbClr val="DAD8E9"/>
                </a:solidFill>
                <a:latin typeface="Prompt Medium" pitchFamily="34" charset="0"/>
                <a:ea typeface="Prompt Medium" pitchFamily="34" charset="-122"/>
                <a:cs typeface="Prompt Medium" pitchFamily="34" charset="-120"/>
              </a:rPr>
              <a:t>High Daily Returns</a:t>
            </a:r>
            <a:endParaRPr lang="en-US" sz="1650" dirty="0"/>
          </a:p>
        </p:txBody>
      </p:sp>
      <p:sp>
        <p:nvSpPr>
          <p:cNvPr id="14" name="Text 10"/>
          <p:cNvSpPr/>
          <p:nvPr/>
        </p:nvSpPr>
        <p:spPr>
          <a:xfrm>
            <a:off x="878443" y="6584871"/>
            <a:ext cx="3767614" cy="912614"/>
          </a:xfrm>
          <a:prstGeom prst="rect">
            <a:avLst/>
          </a:prstGeom>
          <a:noFill/>
          <a:ln/>
        </p:spPr>
        <p:txBody>
          <a:bodyPr wrap="square" lIns="0" tIns="0" rIns="0" bIns="0" rtlCol="0" anchor="t"/>
          <a:lstStyle/>
          <a:p>
            <a:pPr marL="0" indent="0" algn="l">
              <a:lnSpc>
                <a:spcPts val="2350"/>
              </a:lnSpc>
              <a:buNone/>
            </a:pPr>
            <a:r>
              <a:rPr lang="en-US" sz="1450" dirty="0">
                <a:solidFill>
                  <a:srgbClr val="DAD8E9"/>
                </a:solidFill>
                <a:latin typeface="Mukta Light" pitchFamily="34" charset="0"/>
                <a:ea typeface="Mukta Light" pitchFamily="34" charset="-122"/>
                <a:cs typeface="Mukta Light" pitchFamily="34" charset="-120"/>
              </a:rPr>
              <a:t>Mean daily return was </a:t>
            </a:r>
            <a:r>
              <a:rPr lang="en-US" sz="1450" b="1" dirty="0">
                <a:solidFill>
                  <a:srgbClr val="DAD8E9"/>
                </a:solidFill>
                <a:latin typeface="Mukta Light" pitchFamily="34" charset="0"/>
                <a:ea typeface="Mukta Light" pitchFamily="34" charset="-122"/>
                <a:cs typeface="Mukta Light" pitchFamily="34" charset="-120"/>
              </a:rPr>
              <a:t>0.85%</a:t>
            </a:r>
            <a:r>
              <a:rPr lang="en-US" sz="1450" dirty="0">
                <a:solidFill>
                  <a:srgbClr val="DAD8E9"/>
                </a:solidFill>
                <a:latin typeface="Mukta Light" pitchFamily="34" charset="0"/>
                <a:ea typeface="Mukta Light" pitchFamily="34" charset="-122"/>
                <a:cs typeface="Mukta Light" pitchFamily="34" charset="-120"/>
              </a:rPr>
              <a:t>, but the distribution showed "fat tails," indicating frequent extreme gains or losses.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3288" y="466130"/>
            <a:ext cx="7185779" cy="470892"/>
          </a:xfrm>
          <a:prstGeom prst="rect">
            <a:avLst/>
          </a:prstGeom>
          <a:noFill/>
          <a:ln/>
        </p:spPr>
        <p:txBody>
          <a:bodyPr wrap="none" lIns="0" tIns="0" rIns="0" bIns="0" rtlCol="0" anchor="t"/>
          <a:lstStyle/>
          <a:p>
            <a:pPr marL="0" indent="0" algn="l">
              <a:lnSpc>
                <a:spcPts val="3700"/>
              </a:lnSpc>
              <a:buNone/>
            </a:pPr>
            <a:r>
              <a:rPr lang="en-US" sz="2950" dirty="0">
                <a:solidFill>
                  <a:srgbClr val="C6BFEE"/>
                </a:solidFill>
                <a:latin typeface="Prompt Medium" pitchFamily="34" charset="0"/>
                <a:ea typeface="Prompt Medium" pitchFamily="34" charset="-122"/>
                <a:cs typeface="Prompt Medium" pitchFamily="34" charset="-120"/>
              </a:rPr>
              <a:t>EDA: Correlation and Volatility Analysis</a:t>
            </a:r>
            <a:endParaRPr lang="en-US" sz="2950" dirty="0"/>
          </a:p>
        </p:txBody>
      </p:sp>
      <p:sp>
        <p:nvSpPr>
          <p:cNvPr id="3" name="Text 1"/>
          <p:cNvSpPr/>
          <p:nvPr/>
        </p:nvSpPr>
        <p:spPr>
          <a:xfrm>
            <a:off x="593288" y="1360646"/>
            <a:ext cx="3188613" cy="282416"/>
          </a:xfrm>
          <a:prstGeom prst="rect">
            <a:avLst/>
          </a:prstGeom>
          <a:noFill/>
          <a:ln/>
        </p:spPr>
        <p:txBody>
          <a:bodyPr wrap="none" lIns="0" tIns="0" rIns="0" bIns="0" rtlCol="0" anchor="t"/>
          <a:lstStyle/>
          <a:p>
            <a:pPr marL="0" indent="0" algn="l">
              <a:lnSpc>
                <a:spcPts val="2200"/>
              </a:lnSpc>
              <a:buNone/>
            </a:pPr>
            <a:r>
              <a:rPr lang="en-US" sz="1750" dirty="0">
                <a:solidFill>
                  <a:srgbClr val="C6BFEE"/>
                </a:solidFill>
                <a:latin typeface="Prompt Medium" pitchFamily="34" charset="0"/>
                <a:ea typeface="Prompt Medium" pitchFamily="34" charset="-122"/>
                <a:cs typeface="Prompt Medium" pitchFamily="34" charset="-120"/>
              </a:rPr>
              <a:t>Feature Correlation Heatmap</a:t>
            </a:r>
            <a:endParaRPr lang="en-US" sz="1750" dirty="0"/>
          </a:p>
        </p:txBody>
      </p:sp>
      <p:pic>
        <p:nvPicPr>
          <p:cNvPr id="4" name="Image 0" descr="preencoded.png"/>
          <p:cNvPicPr>
            <a:picLocks noChangeAspect="1"/>
          </p:cNvPicPr>
          <p:nvPr/>
        </p:nvPicPr>
        <p:blipFill>
          <a:blip r:embed="rId3"/>
          <a:stretch>
            <a:fillRect/>
          </a:stretch>
        </p:blipFill>
        <p:spPr>
          <a:xfrm>
            <a:off x="593288" y="1833682"/>
            <a:ext cx="6515219" cy="5932051"/>
          </a:xfrm>
          <a:prstGeom prst="rect">
            <a:avLst/>
          </a:prstGeom>
        </p:spPr>
      </p:pic>
      <p:sp>
        <p:nvSpPr>
          <p:cNvPr id="5" name="Text 2"/>
          <p:cNvSpPr/>
          <p:nvPr/>
        </p:nvSpPr>
        <p:spPr>
          <a:xfrm>
            <a:off x="593288" y="7956352"/>
            <a:ext cx="6515219" cy="813673"/>
          </a:xfrm>
          <a:prstGeom prst="rect">
            <a:avLst/>
          </a:prstGeom>
          <a:noFill/>
          <a:ln/>
        </p:spPr>
        <p:txBody>
          <a:bodyPr wrap="square" lIns="0" tIns="0" rIns="0" bIns="0" rtlCol="0" anchor="t"/>
          <a:lstStyle/>
          <a:p>
            <a:pPr marL="0" indent="0" algn="l">
              <a:lnSpc>
                <a:spcPts val="2100"/>
              </a:lnSpc>
              <a:buNone/>
            </a:pPr>
            <a:r>
              <a:rPr lang="en-US" sz="1300" dirty="0">
                <a:solidFill>
                  <a:srgbClr val="DAD8E9"/>
                </a:solidFill>
                <a:latin typeface="Mukta Light" pitchFamily="34" charset="0"/>
                <a:ea typeface="Mukta Light" pitchFamily="34" charset="-122"/>
                <a:cs typeface="Mukta Light" pitchFamily="34" charset="-120"/>
              </a:rPr>
              <a:t>Open, high, low, and close prices are </a:t>
            </a:r>
            <a:r>
              <a:rPr lang="en-US" sz="1300" b="1" dirty="0">
                <a:solidFill>
                  <a:srgbClr val="DAD8E9"/>
                </a:solidFill>
                <a:latin typeface="Mukta Light" pitchFamily="34" charset="0"/>
                <a:ea typeface="Mukta Light" pitchFamily="34" charset="-122"/>
                <a:cs typeface="Mukta Light" pitchFamily="34" charset="-120"/>
              </a:rPr>
              <a:t>almost perfectly correlated</a:t>
            </a:r>
            <a:r>
              <a:rPr lang="en-US" sz="1300" dirty="0">
                <a:solidFill>
                  <a:srgbClr val="DAD8E9"/>
                </a:solidFill>
                <a:latin typeface="Mukta Light" pitchFamily="34" charset="0"/>
                <a:ea typeface="Mukta Light" pitchFamily="34" charset="-122"/>
                <a:cs typeface="Mukta Light" pitchFamily="34" charset="-120"/>
              </a:rPr>
              <a:t> (near 1.0). Price and Volume USD show a strong positive correlation, while price and Volume BTC correlation is much weaker.</a:t>
            </a:r>
            <a:endParaRPr lang="en-US" sz="1300" dirty="0"/>
          </a:p>
        </p:txBody>
      </p:sp>
      <p:sp>
        <p:nvSpPr>
          <p:cNvPr id="6" name="Text 3"/>
          <p:cNvSpPr/>
          <p:nvPr/>
        </p:nvSpPr>
        <p:spPr>
          <a:xfrm>
            <a:off x="7529513" y="1360646"/>
            <a:ext cx="2260163" cy="282416"/>
          </a:xfrm>
          <a:prstGeom prst="rect">
            <a:avLst/>
          </a:prstGeom>
          <a:noFill/>
          <a:ln/>
        </p:spPr>
        <p:txBody>
          <a:bodyPr wrap="none" lIns="0" tIns="0" rIns="0" bIns="0" rtlCol="0" anchor="t"/>
          <a:lstStyle/>
          <a:p>
            <a:pPr marL="0" indent="0" algn="l">
              <a:lnSpc>
                <a:spcPts val="2200"/>
              </a:lnSpc>
              <a:buNone/>
            </a:pPr>
            <a:r>
              <a:rPr lang="en-US" sz="1750" dirty="0">
                <a:solidFill>
                  <a:srgbClr val="C6BFEE"/>
                </a:solidFill>
                <a:latin typeface="Prompt Medium" pitchFamily="34" charset="0"/>
                <a:ea typeface="Prompt Medium" pitchFamily="34" charset="-122"/>
                <a:cs typeface="Prompt Medium" pitchFamily="34" charset="-120"/>
              </a:rPr>
              <a:t>Daily Volatility</a:t>
            </a:r>
            <a:endParaRPr lang="en-US" sz="1750" dirty="0"/>
          </a:p>
        </p:txBody>
      </p:sp>
      <p:pic>
        <p:nvPicPr>
          <p:cNvPr id="7" name="Image 1" descr="preencoded.png"/>
          <p:cNvPicPr>
            <a:picLocks noChangeAspect="1"/>
          </p:cNvPicPr>
          <p:nvPr/>
        </p:nvPicPr>
        <p:blipFill>
          <a:blip r:embed="rId4"/>
          <a:stretch>
            <a:fillRect/>
          </a:stretch>
        </p:blipFill>
        <p:spPr>
          <a:xfrm>
            <a:off x="7529513" y="1833682"/>
            <a:ext cx="6515219" cy="2657237"/>
          </a:xfrm>
          <a:prstGeom prst="rect">
            <a:avLst/>
          </a:prstGeom>
        </p:spPr>
      </p:pic>
      <p:sp>
        <p:nvSpPr>
          <p:cNvPr id="8" name="Text 4"/>
          <p:cNvSpPr/>
          <p:nvPr/>
        </p:nvSpPr>
        <p:spPr>
          <a:xfrm>
            <a:off x="7529513" y="4681538"/>
            <a:ext cx="6515219" cy="813673"/>
          </a:xfrm>
          <a:prstGeom prst="rect">
            <a:avLst/>
          </a:prstGeom>
          <a:noFill/>
          <a:ln/>
        </p:spPr>
        <p:txBody>
          <a:bodyPr wrap="square" lIns="0" tIns="0" rIns="0" bIns="0" rtlCol="0" anchor="t"/>
          <a:lstStyle/>
          <a:p>
            <a:pPr marL="0" indent="0" algn="l">
              <a:lnSpc>
                <a:spcPts val="2100"/>
              </a:lnSpc>
              <a:buNone/>
            </a:pPr>
            <a:r>
              <a:rPr lang="en-US" sz="1300" dirty="0">
                <a:solidFill>
                  <a:srgbClr val="DAD8E9"/>
                </a:solidFill>
                <a:latin typeface="Mukta Light" pitchFamily="34" charset="0"/>
                <a:ea typeface="Mukta Light" pitchFamily="34" charset="-122"/>
                <a:cs typeface="Mukta Light" pitchFamily="34" charset="-120"/>
              </a:rPr>
              <a:t>Daily returns show numerous spikes, with some days exceeding 10% swings. 7-day rolling volatility peaked near </a:t>
            </a:r>
            <a:r>
              <a:rPr lang="en-US" sz="1300" b="1" dirty="0">
                <a:solidFill>
                  <a:srgbClr val="DAD8E9"/>
                </a:solidFill>
                <a:latin typeface="Mukta Light" pitchFamily="34" charset="0"/>
                <a:ea typeface="Mukta Light" pitchFamily="34" charset="-122"/>
                <a:cs typeface="Mukta Light" pitchFamily="34" charset="-120"/>
              </a:rPr>
              <a:t>14%</a:t>
            </a:r>
            <a:r>
              <a:rPr lang="en-US" sz="1300" dirty="0">
                <a:solidFill>
                  <a:srgbClr val="DAD8E9"/>
                </a:solidFill>
                <a:latin typeface="Mukta Light" pitchFamily="34" charset="0"/>
                <a:ea typeface="Mukta Light" pitchFamily="34" charset="-122"/>
                <a:cs typeface="Mukta Light" pitchFamily="34" charset="-120"/>
              </a:rPr>
              <a:t> during the late 2017 price run-up, highlighting massive market instability.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81144" y="456605"/>
            <a:ext cx="6120289" cy="461367"/>
          </a:xfrm>
          <a:prstGeom prst="rect">
            <a:avLst/>
          </a:prstGeom>
          <a:noFill/>
          <a:ln/>
        </p:spPr>
        <p:txBody>
          <a:bodyPr wrap="none" lIns="0" tIns="0" rIns="0" bIns="0" rtlCol="0" anchor="t"/>
          <a:lstStyle/>
          <a:p>
            <a:pPr marL="0" indent="0" algn="l">
              <a:lnSpc>
                <a:spcPts val="3600"/>
              </a:lnSpc>
              <a:buNone/>
            </a:pPr>
            <a:r>
              <a:rPr lang="en-US" sz="2900" dirty="0">
                <a:solidFill>
                  <a:srgbClr val="C6BFEE"/>
                </a:solidFill>
                <a:latin typeface="Prompt Medium" pitchFamily="34" charset="0"/>
                <a:ea typeface="Prompt Medium" pitchFamily="34" charset="-122"/>
                <a:cs typeface="Prompt Medium" pitchFamily="34" charset="-120"/>
              </a:rPr>
              <a:t>Methodology: LSTM Model Design</a:t>
            </a:r>
            <a:endParaRPr lang="en-US" sz="2900" dirty="0"/>
          </a:p>
        </p:txBody>
      </p:sp>
      <p:sp>
        <p:nvSpPr>
          <p:cNvPr id="3" name="Text 1"/>
          <p:cNvSpPr/>
          <p:nvPr/>
        </p:nvSpPr>
        <p:spPr>
          <a:xfrm>
            <a:off x="581144" y="1250037"/>
            <a:ext cx="13468112" cy="265747"/>
          </a:xfrm>
          <a:prstGeom prst="rect">
            <a:avLst/>
          </a:prstGeom>
          <a:noFill/>
          <a:ln/>
        </p:spPr>
        <p:txBody>
          <a:bodyPr wrap="none" lIns="0" tIns="0" rIns="0" bIns="0" rtlCol="0" anchor="t"/>
          <a:lstStyle/>
          <a:p>
            <a:pPr marL="0" indent="0" algn="l">
              <a:lnSpc>
                <a:spcPts val="2050"/>
              </a:lnSpc>
              <a:buNone/>
            </a:pPr>
            <a:r>
              <a:rPr lang="en-US" sz="1300" dirty="0">
                <a:solidFill>
                  <a:srgbClr val="DAD8E9"/>
                </a:solidFill>
                <a:latin typeface="Mukta Light" pitchFamily="34" charset="0"/>
                <a:ea typeface="Mukta Light" pitchFamily="34" charset="-122"/>
                <a:cs typeface="Mukta Light" pitchFamily="34" charset="-120"/>
              </a:rPr>
              <a:t>The project followed the </a:t>
            </a:r>
            <a:r>
              <a:rPr lang="en-US" sz="1300" b="1" dirty="0">
                <a:solidFill>
                  <a:srgbClr val="DAD8E9"/>
                </a:solidFill>
                <a:latin typeface="Mukta Light" pitchFamily="34" charset="0"/>
                <a:ea typeface="Mukta Light" pitchFamily="34" charset="-122"/>
                <a:cs typeface="Mukta Light" pitchFamily="34" charset="-120"/>
              </a:rPr>
              <a:t>CRISP-DM</a:t>
            </a:r>
            <a:r>
              <a:rPr lang="en-US" sz="1300" dirty="0">
                <a:solidFill>
                  <a:srgbClr val="DAD8E9"/>
                </a:solidFill>
                <a:latin typeface="Mukta Light" pitchFamily="34" charset="0"/>
                <a:ea typeface="Mukta Light" pitchFamily="34" charset="-122"/>
                <a:cs typeface="Mukta Light" pitchFamily="34" charset="-120"/>
              </a:rPr>
              <a:t> framework, focusing on robust data preparation and a specialized deep learning architecture.</a:t>
            </a:r>
            <a:endParaRPr lang="en-US" sz="1300" dirty="0"/>
          </a:p>
        </p:txBody>
      </p:sp>
      <p:pic>
        <p:nvPicPr>
          <p:cNvPr id="4" name="Image 0" descr="preencoded.png"/>
          <p:cNvPicPr>
            <a:picLocks noChangeAspect="1"/>
          </p:cNvPicPr>
          <p:nvPr/>
        </p:nvPicPr>
        <p:blipFill>
          <a:blip r:embed="rId3"/>
          <a:stretch>
            <a:fillRect/>
          </a:stretch>
        </p:blipFill>
        <p:spPr>
          <a:xfrm>
            <a:off x="3360063" y="1702594"/>
            <a:ext cx="7910274" cy="4694753"/>
          </a:xfrm>
          <a:prstGeom prst="rect">
            <a:avLst/>
          </a:prstGeom>
        </p:spPr>
      </p:pic>
      <p:pic>
        <p:nvPicPr>
          <p:cNvPr id="5" name="Image 1" descr="preencoded.png"/>
          <p:cNvPicPr>
            <a:picLocks noChangeAspect="1"/>
          </p:cNvPicPr>
          <p:nvPr/>
        </p:nvPicPr>
        <p:blipFill>
          <a:blip r:embed="rId4"/>
          <a:stretch>
            <a:fillRect/>
          </a:stretch>
        </p:blipFill>
        <p:spPr>
          <a:xfrm>
            <a:off x="9465677" y="2850070"/>
            <a:ext cx="673391" cy="673392"/>
          </a:xfrm>
          <a:prstGeom prst="rect">
            <a:avLst/>
          </a:prstGeom>
        </p:spPr>
      </p:pic>
      <p:sp>
        <p:nvSpPr>
          <p:cNvPr id="6" name="Text 2"/>
          <p:cNvSpPr/>
          <p:nvPr/>
        </p:nvSpPr>
        <p:spPr>
          <a:xfrm>
            <a:off x="8865727" y="5161068"/>
            <a:ext cx="1966305" cy="673392"/>
          </a:xfrm>
          <a:prstGeom prst="rect">
            <a:avLst/>
          </a:prstGeom>
          <a:noFill/>
          <a:ln/>
        </p:spPr>
        <p:txBody>
          <a:bodyPr wrap="squar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Training &amp; Validation</a:t>
            </a:r>
            <a:endParaRPr lang="en-US" sz="1200" dirty="0"/>
          </a:p>
        </p:txBody>
      </p:sp>
      <p:pic>
        <p:nvPicPr>
          <p:cNvPr id="7" name="Image 2" descr="preencoded.png"/>
          <p:cNvPicPr>
            <a:picLocks noChangeAspect="1"/>
          </p:cNvPicPr>
          <p:nvPr/>
        </p:nvPicPr>
        <p:blipFill>
          <a:blip r:embed="rId5"/>
          <a:stretch>
            <a:fillRect/>
          </a:stretch>
        </p:blipFill>
        <p:spPr>
          <a:xfrm>
            <a:off x="7000429" y="2851332"/>
            <a:ext cx="673392" cy="673392"/>
          </a:xfrm>
          <a:prstGeom prst="rect">
            <a:avLst/>
          </a:prstGeom>
        </p:spPr>
      </p:pic>
      <p:sp>
        <p:nvSpPr>
          <p:cNvPr id="8" name="Text 3"/>
          <p:cNvSpPr/>
          <p:nvPr/>
        </p:nvSpPr>
        <p:spPr>
          <a:xfrm>
            <a:off x="6387643" y="5329416"/>
            <a:ext cx="1966305" cy="336696"/>
          </a:xfrm>
          <a:prstGeom prst="rect">
            <a:avLst/>
          </a:prstGeom>
          <a:noFill/>
          <a:ln/>
        </p:spPr>
        <p:txBody>
          <a:bodyPr wrap="non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Model Design</a:t>
            </a:r>
            <a:endParaRPr lang="en-US" sz="1200" dirty="0"/>
          </a:p>
        </p:txBody>
      </p:sp>
      <p:pic>
        <p:nvPicPr>
          <p:cNvPr id="9" name="Image 3" descr="preencoded.png"/>
          <p:cNvPicPr>
            <a:picLocks noChangeAspect="1"/>
          </p:cNvPicPr>
          <p:nvPr/>
        </p:nvPicPr>
        <p:blipFill>
          <a:blip r:embed="rId6"/>
          <a:stretch>
            <a:fillRect/>
          </a:stretch>
        </p:blipFill>
        <p:spPr>
          <a:xfrm>
            <a:off x="4522346" y="2851332"/>
            <a:ext cx="673392" cy="673392"/>
          </a:xfrm>
          <a:prstGeom prst="rect">
            <a:avLst/>
          </a:prstGeom>
        </p:spPr>
      </p:pic>
      <p:sp>
        <p:nvSpPr>
          <p:cNvPr id="10" name="Text 4"/>
          <p:cNvSpPr/>
          <p:nvPr/>
        </p:nvSpPr>
        <p:spPr>
          <a:xfrm>
            <a:off x="3869155" y="5161068"/>
            <a:ext cx="1966305" cy="673392"/>
          </a:xfrm>
          <a:prstGeom prst="rect">
            <a:avLst/>
          </a:prstGeom>
          <a:noFill/>
          <a:ln/>
        </p:spPr>
        <p:txBody>
          <a:bodyPr wrap="square" lIns="0" tIns="0" rIns="0" bIns="0" rtlCol="0" anchor="t"/>
          <a:lstStyle/>
          <a:p>
            <a:pPr marL="0" indent="0" algn="ctr">
              <a:lnSpc>
                <a:spcPts val="1500"/>
              </a:lnSpc>
              <a:buNone/>
            </a:pPr>
            <a:r>
              <a:rPr lang="en-US" sz="1200" dirty="0">
                <a:solidFill>
                  <a:srgbClr val="DAD8E9"/>
                </a:solidFill>
                <a:latin typeface="Prompt Medium" pitchFamily="34" charset="0"/>
                <a:ea typeface="Prompt Medium" pitchFamily="34" charset="-122"/>
                <a:cs typeface="Prompt Medium" pitchFamily="34" charset="-120"/>
              </a:rPr>
              <a:t>Data Preprocessing</a:t>
            </a:r>
            <a:endParaRPr lang="en-US" sz="1200" dirty="0"/>
          </a:p>
        </p:txBody>
      </p:sp>
      <p:sp>
        <p:nvSpPr>
          <p:cNvPr id="11" name="Shape 5"/>
          <p:cNvSpPr/>
          <p:nvPr/>
        </p:nvSpPr>
        <p:spPr>
          <a:xfrm>
            <a:off x="581144" y="6584156"/>
            <a:ext cx="4378643" cy="1505069"/>
          </a:xfrm>
          <a:prstGeom prst="roundRect">
            <a:avLst>
              <a:gd name="adj" fmla="val 7291"/>
            </a:avLst>
          </a:prstGeom>
          <a:solidFill>
            <a:srgbClr val="0B0C23">
              <a:alpha val="95000"/>
            </a:srgbClr>
          </a:solidFill>
          <a:ln w="22860">
            <a:solidFill>
              <a:srgbClr val="6D4562"/>
            </a:solidFill>
            <a:prstDash val="solid"/>
          </a:ln>
        </p:spPr>
        <p:txBody>
          <a:bodyPr/>
          <a:lstStyle/>
          <a:p>
            <a:endParaRPr lang="en-US"/>
          </a:p>
        </p:txBody>
      </p:sp>
      <p:sp>
        <p:nvSpPr>
          <p:cNvPr id="12" name="Shape 6"/>
          <p:cNvSpPr/>
          <p:nvPr/>
        </p:nvSpPr>
        <p:spPr>
          <a:xfrm>
            <a:off x="558284" y="6584156"/>
            <a:ext cx="91440" cy="1505069"/>
          </a:xfrm>
          <a:prstGeom prst="roundRect">
            <a:avLst>
              <a:gd name="adj" fmla="val 76277"/>
            </a:avLst>
          </a:prstGeom>
          <a:solidFill>
            <a:srgbClr val="A95B95"/>
          </a:solidFill>
          <a:ln/>
        </p:spPr>
        <p:txBody>
          <a:bodyPr/>
          <a:lstStyle/>
          <a:p>
            <a:endParaRPr lang="en-US"/>
          </a:p>
        </p:txBody>
      </p:sp>
      <p:sp>
        <p:nvSpPr>
          <p:cNvPr id="13" name="Text 7"/>
          <p:cNvSpPr/>
          <p:nvPr/>
        </p:nvSpPr>
        <p:spPr>
          <a:xfrm>
            <a:off x="838557" y="6772989"/>
            <a:ext cx="1845112" cy="230624"/>
          </a:xfrm>
          <a:prstGeom prst="rect">
            <a:avLst/>
          </a:prstGeom>
          <a:noFill/>
          <a:ln/>
        </p:spPr>
        <p:txBody>
          <a:bodyPr wrap="none" lIns="0" tIns="0" rIns="0" bIns="0" rtlCol="0" anchor="t"/>
          <a:lstStyle/>
          <a:p>
            <a:pPr marL="0" indent="0" algn="l">
              <a:lnSpc>
                <a:spcPts val="1800"/>
              </a:lnSpc>
              <a:buNone/>
            </a:pPr>
            <a:r>
              <a:rPr lang="en-US" sz="1450" dirty="0">
                <a:solidFill>
                  <a:srgbClr val="DAD8E9"/>
                </a:solidFill>
                <a:latin typeface="Prompt Medium" pitchFamily="34" charset="0"/>
                <a:ea typeface="Prompt Medium" pitchFamily="34" charset="-122"/>
                <a:cs typeface="Prompt Medium" pitchFamily="34" charset="-120"/>
              </a:rPr>
              <a:t>Data Preprocessing</a:t>
            </a:r>
            <a:endParaRPr lang="en-US" sz="1450" dirty="0"/>
          </a:p>
        </p:txBody>
      </p:sp>
      <p:sp>
        <p:nvSpPr>
          <p:cNvPr id="14" name="Text 8"/>
          <p:cNvSpPr/>
          <p:nvPr/>
        </p:nvSpPr>
        <p:spPr>
          <a:xfrm>
            <a:off x="838557" y="7103150"/>
            <a:ext cx="3932396" cy="797243"/>
          </a:xfrm>
          <a:prstGeom prst="rect">
            <a:avLst/>
          </a:prstGeom>
          <a:noFill/>
          <a:ln/>
        </p:spPr>
        <p:txBody>
          <a:bodyPr wrap="square" lIns="0" tIns="0" rIns="0" bIns="0" rtlCol="0" anchor="t"/>
          <a:lstStyle/>
          <a:p>
            <a:pPr marL="0" indent="0" algn="l">
              <a:lnSpc>
                <a:spcPts val="2050"/>
              </a:lnSpc>
              <a:buNone/>
            </a:pPr>
            <a:r>
              <a:rPr lang="en-US" sz="1300" dirty="0">
                <a:solidFill>
                  <a:srgbClr val="DAD8E9"/>
                </a:solidFill>
                <a:latin typeface="Mukta Light" pitchFamily="34" charset="0"/>
                <a:ea typeface="Mukta Light" pitchFamily="34" charset="-122"/>
                <a:cs typeface="Mukta Light" pitchFamily="34" charset="-120"/>
              </a:rPr>
              <a:t>Data was normalized (MinMaxScaler) and segmented into sequences (e.g., 30 time steps) to create 3D input compatible with LSTM architecture.</a:t>
            </a:r>
            <a:endParaRPr lang="en-US" sz="1300" dirty="0"/>
          </a:p>
        </p:txBody>
      </p:sp>
      <p:sp>
        <p:nvSpPr>
          <p:cNvPr id="15" name="Shape 9"/>
          <p:cNvSpPr/>
          <p:nvPr/>
        </p:nvSpPr>
        <p:spPr>
          <a:xfrm>
            <a:off x="5125760" y="6584156"/>
            <a:ext cx="4378762" cy="1505069"/>
          </a:xfrm>
          <a:prstGeom prst="roundRect">
            <a:avLst>
              <a:gd name="adj" fmla="val 7291"/>
            </a:avLst>
          </a:prstGeom>
          <a:solidFill>
            <a:srgbClr val="0B0C23">
              <a:alpha val="95000"/>
            </a:srgbClr>
          </a:solidFill>
          <a:ln w="22860">
            <a:solidFill>
              <a:srgbClr val="6D4562"/>
            </a:solidFill>
            <a:prstDash val="solid"/>
          </a:ln>
        </p:spPr>
        <p:txBody>
          <a:bodyPr/>
          <a:lstStyle/>
          <a:p>
            <a:endParaRPr lang="en-US"/>
          </a:p>
        </p:txBody>
      </p:sp>
      <p:sp>
        <p:nvSpPr>
          <p:cNvPr id="16" name="Shape 10"/>
          <p:cNvSpPr/>
          <p:nvPr/>
        </p:nvSpPr>
        <p:spPr>
          <a:xfrm>
            <a:off x="5102900" y="6584156"/>
            <a:ext cx="91440" cy="1505069"/>
          </a:xfrm>
          <a:prstGeom prst="roundRect">
            <a:avLst>
              <a:gd name="adj" fmla="val 76277"/>
            </a:avLst>
          </a:prstGeom>
          <a:solidFill>
            <a:srgbClr val="A95B95"/>
          </a:solidFill>
          <a:ln/>
        </p:spPr>
        <p:txBody>
          <a:bodyPr/>
          <a:lstStyle/>
          <a:p>
            <a:endParaRPr lang="en-US"/>
          </a:p>
        </p:txBody>
      </p:sp>
      <p:sp>
        <p:nvSpPr>
          <p:cNvPr id="17" name="Text 11"/>
          <p:cNvSpPr/>
          <p:nvPr/>
        </p:nvSpPr>
        <p:spPr>
          <a:xfrm>
            <a:off x="5383173" y="6772989"/>
            <a:ext cx="3521631" cy="230624"/>
          </a:xfrm>
          <a:prstGeom prst="rect">
            <a:avLst/>
          </a:prstGeom>
          <a:noFill/>
          <a:ln/>
        </p:spPr>
        <p:txBody>
          <a:bodyPr wrap="none" lIns="0" tIns="0" rIns="0" bIns="0" rtlCol="0" anchor="t"/>
          <a:lstStyle/>
          <a:p>
            <a:pPr marL="0" indent="0" algn="l">
              <a:lnSpc>
                <a:spcPts val="1800"/>
              </a:lnSpc>
              <a:buNone/>
            </a:pPr>
            <a:r>
              <a:rPr lang="en-US" sz="1450" dirty="0">
                <a:solidFill>
                  <a:srgbClr val="DAD8E9"/>
                </a:solidFill>
                <a:latin typeface="Prompt Medium" pitchFamily="34" charset="0"/>
                <a:ea typeface="Prompt Medium" pitchFamily="34" charset="-122"/>
                <a:cs typeface="Prompt Medium" pitchFamily="34" charset="-120"/>
              </a:rPr>
              <a:t>Model Architecture (Keras/TensorFlow)</a:t>
            </a:r>
            <a:endParaRPr lang="en-US" sz="1450" dirty="0"/>
          </a:p>
        </p:txBody>
      </p:sp>
      <p:sp>
        <p:nvSpPr>
          <p:cNvPr id="18" name="Text 12"/>
          <p:cNvSpPr/>
          <p:nvPr/>
        </p:nvSpPr>
        <p:spPr>
          <a:xfrm>
            <a:off x="5383173" y="7103150"/>
            <a:ext cx="3932515" cy="797243"/>
          </a:xfrm>
          <a:prstGeom prst="rect">
            <a:avLst/>
          </a:prstGeom>
          <a:noFill/>
          <a:ln/>
        </p:spPr>
        <p:txBody>
          <a:bodyPr wrap="square" lIns="0" tIns="0" rIns="0" bIns="0" rtlCol="0" anchor="t"/>
          <a:lstStyle/>
          <a:p>
            <a:pPr marL="0" indent="0" algn="l">
              <a:lnSpc>
                <a:spcPts val="2050"/>
              </a:lnSpc>
              <a:buNone/>
            </a:pPr>
            <a:r>
              <a:rPr lang="en-US" sz="1300" dirty="0">
                <a:solidFill>
                  <a:srgbClr val="DAD8E9"/>
                </a:solidFill>
                <a:latin typeface="Mukta Light" pitchFamily="34" charset="0"/>
                <a:ea typeface="Mukta Light" pitchFamily="34" charset="-122"/>
                <a:cs typeface="Mukta Light" pitchFamily="34" charset="-120"/>
              </a:rPr>
              <a:t>Comprised an input layer, a hidden LSTM layer (32 units), a Dropout layer (0.2), a dense layer (16 neurons, ReLU), and a final dense output layer (1 neuron).</a:t>
            </a:r>
            <a:endParaRPr lang="en-US" sz="1300" dirty="0"/>
          </a:p>
        </p:txBody>
      </p:sp>
      <p:sp>
        <p:nvSpPr>
          <p:cNvPr id="19" name="Shape 13"/>
          <p:cNvSpPr/>
          <p:nvPr/>
        </p:nvSpPr>
        <p:spPr>
          <a:xfrm>
            <a:off x="9670494" y="6584156"/>
            <a:ext cx="4378762" cy="1505069"/>
          </a:xfrm>
          <a:prstGeom prst="roundRect">
            <a:avLst>
              <a:gd name="adj" fmla="val 7291"/>
            </a:avLst>
          </a:prstGeom>
          <a:solidFill>
            <a:srgbClr val="0B0C23">
              <a:alpha val="95000"/>
            </a:srgbClr>
          </a:solidFill>
          <a:ln w="22860">
            <a:solidFill>
              <a:srgbClr val="6D4562"/>
            </a:solidFill>
            <a:prstDash val="solid"/>
          </a:ln>
        </p:spPr>
        <p:txBody>
          <a:bodyPr/>
          <a:lstStyle/>
          <a:p>
            <a:endParaRPr lang="en-US"/>
          </a:p>
        </p:txBody>
      </p:sp>
      <p:sp>
        <p:nvSpPr>
          <p:cNvPr id="20" name="Shape 14"/>
          <p:cNvSpPr/>
          <p:nvPr/>
        </p:nvSpPr>
        <p:spPr>
          <a:xfrm>
            <a:off x="9647634" y="6584156"/>
            <a:ext cx="91440" cy="1505069"/>
          </a:xfrm>
          <a:prstGeom prst="roundRect">
            <a:avLst>
              <a:gd name="adj" fmla="val 76277"/>
            </a:avLst>
          </a:prstGeom>
          <a:solidFill>
            <a:srgbClr val="A95B95"/>
          </a:solidFill>
          <a:ln/>
        </p:spPr>
        <p:txBody>
          <a:bodyPr/>
          <a:lstStyle/>
          <a:p>
            <a:endParaRPr lang="en-US"/>
          </a:p>
        </p:txBody>
      </p:sp>
      <p:sp>
        <p:nvSpPr>
          <p:cNvPr id="21" name="Text 15"/>
          <p:cNvSpPr/>
          <p:nvPr/>
        </p:nvSpPr>
        <p:spPr>
          <a:xfrm>
            <a:off x="9927908" y="6772989"/>
            <a:ext cx="1883807" cy="230624"/>
          </a:xfrm>
          <a:prstGeom prst="rect">
            <a:avLst/>
          </a:prstGeom>
          <a:noFill/>
          <a:ln/>
        </p:spPr>
        <p:txBody>
          <a:bodyPr wrap="none" lIns="0" tIns="0" rIns="0" bIns="0" rtlCol="0" anchor="t"/>
          <a:lstStyle/>
          <a:p>
            <a:pPr marL="0" indent="0" algn="l">
              <a:lnSpc>
                <a:spcPts val="1800"/>
              </a:lnSpc>
              <a:buNone/>
            </a:pPr>
            <a:r>
              <a:rPr lang="en-US" sz="1450" dirty="0">
                <a:solidFill>
                  <a:srgbClr val="DAD8E9"/>
                </a:solidFill>
                <a:latin typeface="Prompt Medium" pitchFamily="34" charset="0"/>
                <a:ea typeface="Prompt Medium" pitchFamily="34" charset="-122"/>
                <a:cs typeface="Prompt Medium" pitchFamily="34" charset="-120"/>
              </a:rPr>
              <a:t>Training &amp; Validation</a:t>
            </a:r>
            <a:endParaRPr lang="en-US" sz="1450" dirty="0"/>
          </a:p>
        </p:txBody>
      </p:sp>
      <p:sp>
        <p:nvSpPr>
          <p:cNvPr id="22" name="Text 16"/>
          <p:cNvSpPr/>
          <p:nvPr/>
        </p:nvSpPr>
        <p:spPr>
          <a:xfrm>
            <a:off x="9927908" y="7103150"/>
            <a:ext cx="3932515" cy="797243"/>
          </a:xfrm>
          <a:prstGeom prst="rect">
            <a:avLst/>
          </a:prstGeom>
          <a:noFill/>
          <a:ln/>
        </p:spPr>
        <p:txBody>
          <a:bodyPr wrap="square" lIns="0" tIns="0" rIns="0" bIns="0" rtlCol="0" anchor="t"/>
          <a:lstStyle/>
          <a:p>
            <a:pPr marL="0" indent="0" algn="l">
              <a:lnSpc>
                <a:spcPts val="2050"/>
              </a:lnSpc>
              <a:buNone/>
            </a:pPr>
            <a:r>
              <a:rPr lang="en-US" sz="1300" dirty="0">
                <a:solidFill>
                  <a:srgbClr val="DAD8E9"/>
                </a:solidFill>
                <a:latin typeface="Mukta Light" pitchFamily="34" charset="0"/>
                <a:ea typeface="Mukta Light" pitchFamily="34" charset="-122"/>
                <a:cs typeface="Mukta Light" pitchFamily="34" charset="-120"/>
              </a:rPr>
              <a:t>Data split 80:20. Trained over 25 epochs with Adam optimizer and Mean Squared Error (MSE) loss. EarlyStopping was used to prevent overfitting.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4037" y="1252180"/>
            <a:ext cx="12372499"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Key Findings: Exceptional Predictive Accuracy</a:t>
            </a:r>
            <a:endParaRPr lang="en-US" sz="4300" dirty="0"/>
          </a:p>
        </p:txBody>
      </p:sp>
      <p:sp>
        <p:nvSpPr>
          <p:cNvPr id="3" name="Text 1"/>
          <p:cNvSpPr/>
          <p:nvPr/>
        </p:nvSpPr>
        <p:spPr>
          <a:xfrm>
            <a:off x="864037" y="2555081"/>
            <a:ext cx="4095036" cy="814626"/>
          </a:xfrm>
          <a:prstGeom prst="rect">
            <a:avLst/>
          </a:prstGeom>
          <a:noFill/>
          <a:ln/>
        </p:spPr>
        <p:txBody>
          <a:bodyPr wrap="none" lIns="0" tIns="0" rIns="0" bIns="0" rtlCol="0" anchor="t"/>
          <a:lstStyle/>
          <a:p>
            <a:pPr marL="0" indent="0" algn="ctr">
              <a:lnSpc>
                <a:spcPts val="6400"/>
              </a:lnSpc>
              <a:buNone/>
            </a:pPr>
            <a:r>
              <a:rPr lang="en-US" sz="6400" dirty="0">
                <a:solidFill>
                  <a:srgbClr val="DAD8E9"/>
                </a:solidFill>
                <a:latin typeface="Prompt Medium" pitchFamily="34" charset="0"/>
                <a:ea typeface="Prompt Medium" pitchFamily="34" charset="-122"/>
                <a:cs typeface="Prompt Medium" pitchFamily="34" charset="-120"/>
              </a:rPr>
              <a:t>0.941</a:t>
            </a:r>
            <a:endParaRPr lang="en-US" sz="6400" dirty="0"/>
          </a:p>
        </p:txBody>
      </p:sp>
      <p:sp>
        <p:nvSpPr>
          <p:cNvPr id="4" name="Text 2"/>
          <p:cNvSpPr/>
          <p:nvPr/>
        </p:nvSpPr>
        <p:spPr>
          <a:xfrm>
            <a:off x="1539954" y="3678198"/>
            <a:ext cx="2743200" cy="342900"/>
          </a:xfrm>
          <a:prstGeom prst="rect">
            <a:avLst/>
          </a:prstGeom>
          <a:noFill/>
          <a:ln/>
        </p:spPr>
        <p:txBody>
          <a:bodyPr wrap="none" lIns="0" tIns="0" rIns="0" bIns="0" rtlCol="0" anchor="t"/>
          <a:lstStyle/>
          <a:p>
            <a:pPr marL="0" indent="0" algn="ctr">
              <a:lnSpc>
                <a:spcPts val="2700"/>
              </a:lnSpc>
              <a:buNone/>
            </a:pPr>
            <a:r>
              <a:rPr lang="en-US" sz="2150" dirty="0">
                <a:solidFill>
                  <a:srgbClr val="DAD8E9"/>
                </a:solidFill>
                <a:latin typeface="Prompt Medium" pitchFamily="34" charset="0"/>
                <a:ea typeface="Prompt Medium" pitchFamily="34" charset="-122"/>
                <a:cs typeface="Prompt Medium" pitchFamily="34" charset="-120"/>
              </a:rPr>
              <a:t>R² Score</a:t>
            </a:r>
            <a:endParaRPr lang="en-US" sz="2150" dirty="0"/>
          </a:p>
        </p:txBody>
      </p:sp>
      <p:sp>
        <p:nvSpPr>
          <p:cNvPr id="5" name="Text 3"/>
          <p:cNvSpPr/>
          <p:nvPr/>
        </p:nvSpPr>
        <p:spPr>
          <a:xfrm>
            <a:off x="864037" y="4169212"/>
            <a:ext cx="4095036" cy="1185148"/>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The model explained over 94% of the variance in observed closing prices, validating the LSTM's effectiveness.</a:t>
            </a:r>
            <a:endParaRPr lang="en-US" sz="1900" dirty="0"/>
          </a:p>
        </p:txBody>
      </p:sp>
      <p:sp>
        <p:nvSpPr>
          <p:cNvPr id="6" name="Text 4"/>
          <p:cNvSpPr/>
          <p:nvPr/>
        </p:nvSpPr>
        <p:spPr>
          <a:xfrm>
            <a:off x="5267682" y="2555081"/>
            <a:ext cx="4095036" cy="814626"/>
          </a:xfrm>
          <a:prstGeom prst="rect">
            <a:avLst/>
          </a:prstGeom>
          <a:noFill/>
          <a:ln/>
        </p:spPr>
        <p:txBody>
          <a:bodyPr wrap="none" lIns="0" tIns="0" rIns="0" bIns="0" rtlCol="0" anchor="t"/>
          <a:lstStyle/>
          <a:p>
            <a:pPr marL="0" indent="0" algn="ctr">
              <a:lnSpc>
                <a:spcPts val="6400"/>
              </a:lnSpc>
              <a:buNone/>
            </a:pPr>
            <a:r>
              <a:rPr lang="en-US" sz="6400" dirty="0">
                <a:solidFill>
                  <a:srgbClr val="DAD8E9"/>
                </a:solidFill>
                <a:latin typeface="Prompt Medium" pitchFamily="34" charset="0"/>
                <a:ea typeface="Prompt Medium" pitchFamily="34" charset="-122"/>
                <a:cs typeface="Prompt Medium" pitchFamily="34" charset="-120"/>
              </a:rPr>
              <a:t>432.41</a:t>
            </a:r>
            <a:endParaRPr lang="en-US" sz="6400" dirty="0"/>
          </a:p>
        </p:txBody>
      </p:sp>
      <p:sp>
        <p:nvSpPr>
          <p:cNvPr id="7" name="Text 5"/>
          <p:cNvSpPr/>
          <p:nvPr/>
        </p:nvSpPr>
        <p:spPr>
          <a:xfrm>
            <a:off x="5943600" y="3678198"/>
            <a:ext cx="2743200" cy="342900"/>
          </a:xfrm>
          <a:prstGeom prst="rect">
            <a:avLst/>
          </a:prstGeom>
          <a:noFill/>
          <a:ln/>
        </p:spPr>
        <p:txBody>
          <a:bodyPr wrap="none" lIns="0" tIns="0" rIns="0" bIns="0" rtlCol="0" anchor="t"/>
          <a:lstStyle/>
          <a:p>
            <a:pPr marL="0" indent="0" algn="ctr">
              <a:lnSpc>
                <a:spcPts val="2700"/>
              </a:lnSpc>
              <a:buNone/>
            </a:pPr>
            <a:r>
              <a:rPr lang="en-US" sz="2150" dirty="0">
                <a:solidFill>
                  <a:srgbClr val="DAD8E9"/>
                </a:solidFill>
                <a:latin typeface="Prompt Medium" pitchFamily="34" charset="0"/>
                <a:ea typeface="Prompt Medium" pitchFamily="34" charset="-122"/>
                <a:cs typeface="Prompt Medium" pitchFamily="34" charset="-120"/>
              </a:rPr>
              <a:t>RMSE</a:t>
            </a:r>
            <a:endParaRPr lang="en-US" sz="2150" dirty="0"/>
          </a:p>
        </p:txBody>
      </p:sp>
      <p:sp>
        <p:nvSpPr>
          <p:cNvPr id="8" name="Text 6"/>
          <p:cNvSpPr/>
          <p:nvPr/>
        </p:nvSpPr>
        <p:spPr>
          <a:xfrm>
            <a:off x="5267682" y="4169212"/>
            <a:ext cx="4095036" cy="1185148"/>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Root Mean Squared Error, indicating the model's overall deviation from actual values was within a practical margin.</a:t>
            </a:r>
            <a:endParaRPr lang="en-US" sz="1900" dirty="0"/>
          </a:p>
        </p:txBody>
      </p:sp>
      <p:sp>
        <p:nvSpPr>
          <p:cNvPr id="9" name="Text 7"/>
          <p:cNvSpPr/>
          <p:nvPr/>
        </p:nvSpPr>
        <p:spPr>
          <a:xfrm>
            <a:off x="9671328" y="2555081"/>
            <a:ext cx="4095036" cy="814626"/>
          </a:xfrm>
          <a:prstGeom prst="rect">
            <a:avLst/>
          </a:prstGeom>
          <a:noFill/>
          <a:ln/>
        </p:spPr>
        <p:txBody>
          <a:bodyPr wrap="none" lIns="0" tIns="0" rIns="0" bIns="0" rtlCol="0" anchor="t"/>
          <a:lstStyle/>
          <a:p>
            <a:pPr marL="0" indent="0" algn="ctr">
              <a:lnSpc>
                <a:spcPts val="6400"/>
              </a:lnSpc>
              <a:buNone/>
            </a:pPr>
            <a:r>
              <a:rPr lang="en-US" sz="6400" dirty="0">
                <a:solidFill>
                  <a:srgbClr val="DAD8E9"/>
                </a:solidFill>
                <a:latin typeface="Prompt Medium" pitchFamily="34" charset="0"/>
                <a:ea typeface="Prompt Medium" pitchFamily="34" charset="-122"/>
                <a:cs typeface="Prompt Medium" pitchFamily="34" charset="-120"/>
              </a:rPr>
              <a:t>347.14</a:t>
            </a:r>
            <a:endParaRPr lang="en-US" sz="6400" dirty="0"/>
          </a:p>
        </p:txBody>
      </p:sp>
      <p:sp>
        <p:nvSpPr>
          <p:cNvPr id="10" name="Text 8"/>
          <p:cNvSpPr/>
          <p:nvPr/>
        </p:nvSpPr>
        <p:spPr>
          <a:xfrm>
            <a:off x="10347246" y="3678198"/>
            <a:ext cx="2743200" cy="342900"/>
          </a:xfrm>
          <a:prstGeom prst="rect">
            <a:avLst/>
          </a:prstGeom>
          <a:noFill/>
          <a:ln/>
        </p:spPr>
        <p:txBody>
          <a:bodyPr wrap="none" lIns="0" tIns="0" rIns="0" bIns="0" rtlCol="0" anchor="t"/>
          <a:lstStyle/>
          <a:p>
            <a:pPr marL="0" indent="0" algn="ctr">
              <a:lnSpc>
                <a:spcPts val="2700"/>
              </a:lnSpc>
              <a:buNone/>
            </a:pPr>
            <a:r>
              <a:rPr lang="en-US" sz="2150" dirty="0">
                <a:solidFill>
                  <a:srgbClr val="DAD8E9"/>
                </a:solidFill>
                <a:latin typeface="Prompt Medium" pitchFamily="34" charset="0"/>
                <a:ea typeface="Prompt Medium" pitchFamily="34" charset="-122"/>
                <a:cs typeface="Prompt Medium" pitchFamily="34" charset="-120"/>
              </a:rPr>
              <a:t>MAE</a:t>
            </a:r>
            <a:endParaRPr lang="en-US" sz="2150" dirty="0"/>
          </a:p>
        </p:txBody>
      </p:sp>
      <p:sp>
        <p:nvSpPr>
          <p:cNvPr id="11" name="Text 9"/>
          <p:cNvSpPr/>
          <p:nvPr/>
        </p:nvSpPr>
        <p:spPr>
          <a:xfrm>
            <a:off x="9671328" y="4169212"/>
            <a:ext cx="4095036" cy="1185148"/>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Mean Absolute Error, further emphasizing the model's robustness in short-term prediction.</a:t>
            </a:r>
            <a:endParaRPr lang="en-US" sz="1900" dirty="0"/>
          </a:p>
        </p:txBody>
      </p:sp>
      <p:sp>
        <p:nvSpPr>
          <p:cNvPr id="12" name="Text 10"/>
          <p:cNvSpPr/>
          <p:nvPr/>
        </p:nvSpPr>
        <p:spPr>
          <a:xfrm>
            <a:off x="1234321" y="5909667"/>
            <a:ext cx="12532043" cy="790099"/>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cs typeface="Mukta Light" pitchFamily="34" charset="-120"/>
              </a:rPr>
              <a:t>The visual comparison showed the prediction line closely followed actual values, successfully capturing the overall market trend. This validates the superiority of LSTM architectures for time-dependent financial forecasting.</a:t>
            </a:r>
            <a:endParaRPr lang="en-US" sz="1900" dirty="0"/>
          </a:p>
        </p:txBody>
      </p:sp>
      <p:sp>
        <p:nvSpPr>
          <p:cNvPr id="13" name="Shape 11"/>
          <p:cNvSpPr/>
          <p:nvPr/>
        </p:nvSpPr>
        <p:spPr>
          <a:xfrm>
            <a:off x="864037" y="5632013"/>
            <a:ext cx="30480" cy="1345406"/>
          </a:xfrm>
          <a:prstGeom prst="rect">
            <a:avLst/>
          </a:prstGeom>
          <a:solidFill>
            <a:srgbClr val="A95B95"/>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5663" y="428744"/>
            <a:ext cx="8633579" cy="433030"/>
          </a:xfrm>
          <a:prstGeom prst="rect">
            <a:avLst/>
          </a:prstGeom>
          <a:noFill/>
          <a:ln/>
        </p:spPr>
        <p:txBody>
          <a:bodyPr wrap="none" lIns="0" tIns="0" rIns="0" bIns="0" rtlCol="0" anchor="t"/>
          <a:lstStyle/>
          <a:p>
            <a:pPr marL="0" indent="0" algn="l">
              <a:lnSpc>
                <a:spcPts val="3400"/>
              </a:lnSpc>
              <a:buNone/>
            </a:pPr>
            <a:r>
              <a:rPr lang="en-US" sz="2700" dirty="0">
                <a:solidFill>
                  <a:srgbClr val="C6BFEE"/>
                </a:solidFill>
                <a:latin typeface="Prompt Medium" pitchFamily="34" charset="0"/>
                <a:ea typeface="Prompt Medium" pitchFamily="34" charset="-122"/>
                <a:cs typeface="Prompt Medium" pitchFamily="34" charset="-120"/>
              </a:rPr>
              <a:t>Prediction of the next day based on past 50 days </a:t>
            </a:r>
            <a:endParaRPr lang="en-US" sz="2700" dirty="0"/>
          </a:p>
        </p:txBody>
      </p:sp>
      <p:pic>
        <p:nvPicPr>
          <p:cNvPr id="3" name="Image 0" descr="preencoded.png"/>
          <p:cNvPicPr>
            <a:picLocks noChangeAspect="1"/>
          </p:cNvPicPr>
          <p:nvPr/>
        </p:nvPicPr>
        <p:blipFill>
          <a:blip r:embed="rId3"/>
          <a:stretch>
            <a:fillRect/>
          </a:stretch>
        </p:blipFill>
        <p:spPr>
          <a:xfrm>
            <a:off x="545663" y="1173599"/>
            <a:ext cx="13539073" cy="8096131"/>
          </a:xfrm>
          <a:prstGeom prst="rect">
            <a:avLst/>
          </a:prstGeom>
        </p:spPr>
      </p:pic>
      <p:sp>
        <p:nvSpPr>
          <p:cNvPr id="4" name="Text 1"/>
          <p:cNvSpPr/>
          <p:nvPr/>
        </p:nvSpPr>
        <p:spPr>
          <a:xfrm>
            <a:off x="545663" y="9445109"/>
            <a:ext cx="13539073" cy="249555"/>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9621" y="612577"/>
            <a:ext cx="9425702" cy="618768"/>
          </a:xfrm>
          <a:prstGeom prst="rect">
            <a:avLst/>
          </a:prstGeom>
          <a:noFill/>
          <a:ln/>
        </p:spPr>
        <p:txBody>
          <a:bodyPr wrap="none" lIns="0" tIns="0" rIns="0" bIns="0" rtlCol="0" anchor="t"/>
          <a:lstStyle/>
          <a:p>
            <a:pPr marL="0" indent="0" algn="l">
              <a:lnSpc>
                <a:spcPts val="4850"/>
              </a:lnSpc>
              <a:buNone/>
            </a:pPr>
            <a:r>
              <a:rPr lang="en-US" sz="3850" dirty="0">
                <a:solidFill>
                  <a:srgbClr val="C6BFEE"/>
                </a:solidFill>
                <a:latin typeface="Prompt Medium" pitchFamily="34" charset="0"/>
                <a:ea typeface="Prompt Medium" pitchFamily="34" charset="-122"/>
                <a:cs typeface="Prompt Medium" pitchFamily="34" charset="-120"/>
              </a:rPr>
              <a:t>Observation and Future Enhancements</a:t>
            </a:r>
            <a:endParaRPr lang="en-US" sz="3850" dirty="0"/>
          </a:p>
        </p:txBody>
      </p:sp>
      <p:pic>
        <p:nvPicPr>
          <p:cNvPr id="3" name="Image 0" descr="preencoded.png"/>
          <p:cNvPicPr>
            <a:picLocks noChangeAspect="1"/>
          </p:cNvPicPr>
          <p:nvPr/>
        </p:nvPicPr>
        <p:blipFill>
          <a:blip r:embed="rId3"/>
          <a:stretch>
            <a:fillRect/>
          </a:stretch>
        </p:blipFill>
        <p:spPr>
          <a:xfrm>
            <a:off x="779621" y="1815941"/>
            <a:ext cx="6263878" cy="6263878"/>
          </a:xfrm>
          <a:prstGeom prst="rect">
            <a:avLst/>
          </a:prstGeom>
        </p:spPr>
      </p:pic>
      <p:sp>
        <p:nvSpPr>
          <p:cNvPr id="4" name="Text 1"/>
          <p:cNvSpPr/>
          <p:nvPr/>
        </p:nvSpPr>
        <p:spPr>
          <a:xfrm>
            <a:off x="7594521" y="1788081"/>
            <a:ext cx="3045143" cy="371237"/>
          </a:xfrm>
          <a:prstGeom prst="rect">
            <a:avLst/>
          </a:prstGeom>
          <a:noFill/>
          <a:ln/>
        </p:spPr>
        <p:txBody>
          <a:bodyPr wrap="none" lIns="0" tIns="0" rIns="0" bIns="0" rtlCol="0" anchor="t"/>
          <a:lstStyle/>
          <a:p>
            <a:pPr marL="0" indent="0" algn="l">
              <a:lnSpc>
                <a:spcPts val="2900"/>
              </a:lnSpc>
              <a:buNone/>
            </a:pPr>
            <a:r>
              <a:rPr lang="en-US" sz="2300" dirty="0">
                <a:solidFill>
                  <a:srgbClr val="C6BFEE"/>
                </a:solidFill>
                <a:latin typeface="Prompt Medium" pitchFamily="34" charset="0"/>
                <a:ea typeface="Prompt Medium" pitchFamily="34" charset="-122"/>
                <a:cs typeface="Prompt Medium" pitchFamily="34" charset="-120"/>
              </a:rPr>
              <a:t>Observed Deviations</a:t>
            </a:r>
            <a:endParaRPr lang="en-US" sz="2300" dirty="0"/>
          </a:p>
        </p:txBody>
      </p:sp>
      <p:sp>
        <p:nvSpPr>
          <p:cNvPr id="5" name="Text 2"/>
          <p:cNvSpPr/>
          <p:nvPr/>
        </p:nvSpPr>
        <p:spPr>
          <a:xfrm>
            <a:off x="7594521" y="2381964"/>
            <a:ext cx="6263878" cy="1425416"/>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The model showed minor deviations during periods of high market volatility, where predicted prices slightly lagged behind sudden shifts. These fluctuations were limited and did not significantly affect the overall predictive accuracy.</a:t>
            </a:r>
            <a:endParaRPr lang="en-US" sz="1750" dirty="0"/>
          </a:p>
        </p:txBody>
      </p:sp>
      <p:sp>
        <p:nvSpPr>
          <p:cNvPr id="6" name="Text 3"/>
          <p:cNvSpPr/>
          <p:nvPr/>
        </p:nvSpPr>
        <p:spPr>
          <a:xfrm>
            <a:off x="7594521" y="4030027"/>
            <a:ext cx="3383756" cy="371237"/>
          </a:xfrm>
          <a:prstGeom prst="rect">
            <a:avLst/>
          </a:prstGeom>
          <a:noFill/>
          <a:ln/>
        </p:spPr>
        <p:txBody>
          <a:bodyPr wrap="none" lIns="0" tIns="0" rIns="0" bIns="0" rtlCol="0" anchor="t"/>
          <a:lstStyle/>
          <a:p>
            <a:pPr marL="0" indent="0" algn="l">
              <a:lnSpc>
                <a:spcPts val="2900"/>
              </a:lnSpc>
              <a:buNone/>
            </a:pPr>
            <a:r>
              <a:rPr lang="en-US" sz="2300" dirty="0">
                <a:solidFill>
                  <a:srgbClr val="C6BFEE"/>
                </a:solidFill>
                <a:latin typeface="Prompt Medium" pitchFamily="34" charset="0"/>
                <a:ea typeface="Prompt Medium" pitchFamily="34" charset="-122"/>
                <a:cs typeface="Prompt Medium" pitchFamily="34" charset="-120"/>
              </a:rPr>
              <a:t>Optimization Strategies</a:t>
            </a:r>
            <a:endParaRPr lang="en-US" sz="2300" dirty="0"/>
          </a:p>
        </p:txBody>
      </p:sp>
      <p:pic>
        <p:nvPicPr>
          <p:cNvPr id="7" name="Image 1" descr="preencoded.png"/>
          <p:cNvPicPr>
            <a:picLocks noChangeAspect="1"/>
          </p:cNvPicPr>
          <p:nvPr/>
        </p:nvPicPr>
        <p:blipFill>
          <a:blip r:embed="rId4"/>
          <a:stretch>
            <a:fillRect/>
          </a:stretch>
        </p:blipFill>
        <p:spPr>
          <a:xfrm>
            <a:off x="7677983" y="4621113"/>
            <a:ext cx="334089" cy="417552"/>
          </a:xfrm>
          <a:prstGeom prst="rect">
            <a:avLst/>
          </a:prstGeom>
        </p:spPr>
      </p:pic>
      <p:sp>
        <p:nvSpPr>
          <p:cNvPr id="8" name="Text 4"/>
          <p:cNvSpPr/>
          <p:nvPr/>
        </p:nvSpPr>
        <p:spPr>
          <a:xfrm>
            <a:off x="8318302" y="4651772"/>
            <a:ext cx="5540097" cy="712708"/>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Fine-tune parameters (sequence length, dropout rate) to stabilize predictions.</a:t>
            </a:r>
            <a:endParaRPr lang="en-US" sz="1750" dirty="0"/>
          </a:p>
        </p:txBody>
      </p:sp>
      <p:pic>
        <p:nvPicPr>
          <p:cNvPr id="9" name="Image 2" descr="preencoded.png"/>
          <p:cNvPicPr>
            <a:picLocks noChangeAspect="1"/>
          </p:cNvPicPr>
          <p:nvPr/>
        </p:nvPicPr>
        <p:blipFill>
          <a:blip r:embed="rId4"/>
          <a:stretch>
            <a:fillRect/>
          </a:stretch>
        </p:blipFill>
        <p:spPr>
          <a:xfrm>
            <a:off x="7677983" y="5779234"/>
            <a:ext cx="334089" cy="417552"/>
          </a:xfrm>
          <a:prstGeom prst="rect">
            <a:avLst/>
          </a:prstGeom>
        </p:spPr>
      </p:pic>
      <p:sp>
        <p:nvSpPr>
          <p:cNvPr id="10" name="Text 5"/>
          <p:cNvSpPr/>
          <p:nvPr/>
        </p:nvSpPr>
        <p:spPr>
          <a:xfrm>
            <a:off x="8318302" y="5809893"/>
            <a:ext cx="5540097" cy="712708"/>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Integrate </a:t>
            </a:r>
            <a:r>
              <a:rPr lang="en-US" sz="1750" b="1" dirty="0">
                <a:solidFill>
                  <a:srgbClr val="DAD8E9"/>
                </a:solidFill>
                <a:latin typeface="Mukta Light" pitchFamily="34" charset="0"/>
                <a:ea typeface="Mukta Light" pitchFamily="34" charset="-122"/>
                <a:cs typeface="Mukta Light" pitchFamily="34" charset="-120"/>
              </a:rPr>
              <a:t>sentiment-derived features</a:t>
            </a:r>
            <a:r>
              <a:rPr lang="en-US" sz="1750" dirty="0">
                <a:solidFill>
                  <a:srgbClr val="DAD8E9"/>
                </a:solidFill>
                <a:latin typeface="Mukta Light" pitchFamily="34" charset="0"/>
                <a:ea typeface="Mukta Light" pitchFamily="34" charset="-122"/>
                <a:cs typeface="Mukta Light" pitchFamily="34" charset="-120"/>
              </a:rPr>
              <a:t> for enhanced responsiveness to market sentiment.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2712" y="583525"/>
            <a:ext cx="4715589" cy="589478"/>
          </a:xfrm>
          <a:prstGeom prst="rect">
            <a:avLst/>
          </a:prstGeom>
          <a:noFill/>
          <a:ln/>
        </p:spPr>
        <p:txBody>
          <a:bodyPr wrap="none" lIns="0" tIns="0" rIns="0" bIns="0" rtlCol="0" anchor="t"/>
          <a:lstStyle/>
          <a:p>
            <a:pPr marL="0" indent="0" algn="l">
              <a:lnSpc>
                <a:spcPts val="4600"/>
              </a:lnSpc>
              <a:buNone/>
            </a:pPr>
            <a:r>
              <a:rPr lang="en-US" sz="3700" dirty="0">
                <a:solidFill>
                  <a:srgbClr val="C6BFEE"/>
                </a:solidFill>
                <a:latin typeface="Prompt Medium" pitchFamily="34" charset="0"/>
                <a:ea typeface="Prompt Medium" pitchFamily="34" charset="-122"/>
                <a:cs typeface="Prompt Medium" pitchFamily="34" charset="-120"/>
              </a:rPr>
              <a:t>Conclusion: </a:t>
            </a:r>
            <a:endParaRPr lang="en-US" sz="3700" dirty="0"/>
          </a:p>
        </p:txBody>
      </p:sp>
      <p:sp>
        <p:nvSpPr>
          <p:cNvPr id="3" name="Text 1"/>
          <p:cNvSpPr/>
          <p:nvPr/>
        </p:nvSpPr>
        <p:spPr>
          <a:xfrm>
            <a:off x="742712" y="1597343"/>
            <a:ext cx="13144976" cy="678894"/>
          </a:xfrm>
          <a:prstGeom prst="rect">
            <a:avLst/>
          </a:prstGeom>
          <a:noFill/>
          <a:ln/>
        </p:spPr>
        <p:txBody>
          <a:bodyPr wrap="square" lIns="0" tIns="0" rIns="0" bIns="0" rtlCol="0" anchor="t"/>
          <a:lstStyle/>
          <a:p>
            <a:pPr marL="0" indent="0" algn="l">
              <a:lnSpc>
                <a:spcPts val="2650"/>
              </a:lnSpc>
              <a:buNone/>
            </a:pPr>
            <a:r>
              <a:rPr lang="en-US" sz="1650" dirty="0">
                <a:solidFill>
                  <a:srgbClr val="DAD8E9"/>
                </a:solidFill>
                <a:latin typeface="Mukta Light" pitchFamily="34" charset="0"/>
                <a:ea typeface="Mukta Light" pitchFamily="34" charset="-122"/>
                <a:cs typeface="Mukta Light" pitchFamily="34" charset="-120"/>
              </a:rPr>
              <a:t>The project successfully demonstrated the application of advanced data science techniques for short-term Bitcoin price forecasting, achieving high accuracy and reliability.</a:t>
            </a:r>
            <a:endParaRPr lang="en-US" sz="1650" dirty="0"/>
          </a:p>
        </p:txBody>
      </p:sp>
      <p:sp>
        <p:nvSpPr>
          <p:cNvPr id="4" name="Text 2"/>
          <p:cNvSpPr/>
          <p:nvPr/>
        </p:nvSpPr>
        <p:spPr>
          <a:xfrm>
            <a:off x="2656999" y="3438168"/>
            <a:ext cx="2357795" cy="294680"/>
          </a:xfrm>
          <a:prstGeom prst="rect">
            <a:avLst/>
          </a:prstGeom>
          <a:noFill/>
          <a:ln/>
        </p:spPr>
        <p:txBody>
          <a:bodyPr wrap="none" lIns="0" tIns="0" rIns="0" bIns="0" rtlCol="0" anchor="t"/>
          <a:lstStyle/>
          <a:p>
            <a:pPr marL="0" indent="0" algn="r">
              <a:lnSpc>
                <a:spcPts val="2300"/>
              </a:lnSpc>
              <a:buNone/>
            </a:pPr>
            <a:r>
              <a:rPr lang="en-US" sz="1850" dirty="0">
                <a:solidFill>
                  <a:srgbClr val="DAD8E9"/>
                </a:solidFill>
                <a:latin typeface="Prompt Medium" pitchFamily="34" charset="0"/>
                <a:ea typeface="Prompt Medium" pitchFamily="34" charset="-122"/>
                <a:cs typeface="Prompt Medium" pitchFamily="34" charset="-120"/>
              </a:rPr>
              <a:t>Data Mining</a:t>
            </a:r>
            <a:endParaRPr lang="en-US" sz="1850" dirty="0"/>
          </a:p>
        </p:txBody>
      </p:sp>
      <p:pic>
        <p:nvPicPr>
          <p:cNvPr id="5" name="Image 0" descr="preencoded.png"/>
          <p:cNvPicPr>
            <a:picLocks noChangeAspect="1"/>
          </p:cNvPicPr>
          <p:nvPr/>
        </p:nvPicPr>
        <p:blipFill>
          <a:blip r:embed="rId3"/>
          <a:stretch>
            <a:fillRect/>
          </a:stretch>
        </p:blipFill>
        <p:spPr>
          <a:xfrm>
            <a:off x="5014793" y="2514957"/>
            <a:ext cx="4600694" cy="4600694"/>
          </a:xfrm>
          <a:prstGeom prst="rect">
            <a:avLst/>
          </a:prstGeom>
        </p:spPr>
      </p:pic>
      <p:pic>
        <p:nvPicPr>
          <p:cNvPr id="6" name="Image 1" descr="preencoded.png"/>
          <p:cNvPicPr>
            <a:picLocks noChangeAspect="1"/>
          </p:cNvPicPr>
          <p:nvPr/>
        </p:nvPicPr>
        <p:blipFill>
          <a:blip r:embed="rId4"/>
          <a:stretch>
            <a:fillRect/>
          </a:stretch>
        </p:blipFill>
        <p:spPr>
          <a:xfrm>
            <a:off x="6328112" y="3791010"/>
            <a:ext cx="298371" cy="372904"/>
          </a:xfrm>
          <a:prstGeom prst="rect">
            <a:avLst/>
          </a:prstGeom>
        </p:spPr>
      </p:pic>
      <p:sp>
        <p:nvSpPr>
          <p:cNvPr id="7" name="Text 3"/>
          <p:cNvSpPr/>
          <p:nvPr/>
        </p:nvSpPr>
        <p:spPr>
          <a:xfrm>
            <a:off x="9615488" y="3438168"/>
            <a:ext cx="2357795" cy="294680"/>
          </a:xfrm>
          <a:prstGeom prst="rect">
            <a:avLst/>
          </a:prstGeom>
          <a:noFill/>
          <a:ln/>
        </p:spPr>
        <p:txBody>
          <a:bodyPr wrap="none" lIns="0" tIns="0" rIns="0" bIns="0" rtlCol="0" anchor="t"/>
          <a:lstStyle/>
          <a:p>
            <a:pPr marL="0" indent="0" algn="l">
              <a:lnSpc>
                <a:spcPts val="2300"/>
              </a:lnSpc>
              <a:buNone/>
            </a:pPr>
            <a:r>
              <a:rPr lang="en-US" sz="1850" dirty="0">
                <a:solidFill>
                  <a:srgbClr val="DAD8E9"/>
                </a:solidFill>
                <a:latin typeface="Prompt Medium" pitchFamily="34" charset="0"/>
                <a:ea typeface="Prompt Medium" pitchFamily="34" charset="-122"/>
                <a:cs typeface="Prompt Medium" pitchFamily="34" charset="-120"/>
              </a:rPr>
              <a:t>AI (LSTM)</a:t>
            </a:r>
            <a:endParaRPr lang="en-US" sz="1850" dirty="0"/>
          </a:p>
        </p:txBody>
      </p:sp>
      <p:pic>
        <p:nvPicPr>
          <p:cNvPr id="8" name="Image 2" descr="preencoded.png"/>
          <p:cNvPicPr>
            <a:picLocks noChangeAspect="1"/>
          </p:cNvPicPr>
          <p:nvPr/>
        </p:nvPicPr>
        <p:blipFill>
          <a:blip r:embed="rId5"/>
          <a:stretch>
            <a:fillRect/>
          </a:stretch>
        </p:blipFill>
        <p:spPr>
          <a:xfrm>
            <a:off x="5014793" y="2514957"/>
            <a:ext cx="4600694" cy="4600694"/>
          </a:xfrm>
          <a:prstGeom prst="rect">
            <a:avLst/>
          </a:prstGeom>
        </p:spPr>
      </p:pic>
      <p:pic>
        <p:nvPicPr>
          <p:cNvPr id="9" name="Image 3" descr="preencoded.png"/>
          <p:cNvPicPr>
            <a:picLocks noChangeAspect="1"/>
          </p:cNvPicPr>
          <p:nvPr/>
        </p:nvPicPr>
        <p:blipFill>
          <a:blip r:embed="rId6"/>
          <a:stretch>
            <a:fillRect/>
          </a:stretch>
        </p:blipFill>
        <p:spPr>
          <a:xfrm>
            <a:off x="8003560" y="3791010"/>
            <a:ext cx="298371" cy="372904"/>
          </a:xfrm>
          <a:prstGeom prst="rect">
            <a:avLst/>
          </a:prstGeom>
        </p:spPr>
      </p:pic>
      <p:sp>
        <p:nvSpPr>
          <p:cNvPr id="10" name="Text 4"/>
          <p:cNvSpPr/>
          <p:nvPr/>
        </p:nvSpPr>
        <p:spPr>
          <a:xfrm>
            <a:off x="9615488" y="5897642"/>
            <a:ext cx="2357795" cy="294680"/>
          </a:xfrm>
          <a:prstGeom prst="rect">
            <a:avLst/>
          </a:prstGeom>
          <a:noFill/>
          <a:ln/>
        </p:spPr>
        <p:txBody>
          <a:bodyPr wrap="none" lIns="0" tIns="0" rIns="0" bIns="0" rtlCol="0" anchor="t"/>
          <a:lstStyle/>
          <a:p>
            <a:pPr marL="0" indent="0" algn="l">
              <a:lnSpc>
                <a:spcPts val="2300"/>
              </a:lnSpc>
              <a:buNone/>
            </a:pPr>
            <a:r>
              <a:rPr lang="en-US" sz="1850" dirty="0">
                <a:solidFill>
                  <a:srgbClr val="DAD8E9"/>
                </a:solidFill>
                <a:latin typeface="Prompt Medium" pitchFamily="34" charset="0"/>
                <a:ea typeface="Prompt Medium" pitchFamily="34" charset="-122"/>
                <a:cs typeface="Prompt Medium" pitchFamily="34" charset="-120"/>
              </a:rPr>
              <a:t>Big Data Analytics</a:t>
            </a:r>
            <a:endParaRPr lang="en-US" sz="1850" dirty="0"/>
          </a:p>
        </p:txBody>
      </p:sp>
      <p:pic>
        <p:nvPicPr>
          <p:cNvPr id="11" name="Image 4" descr="preencoded.png"/>
          <p:cNvPicPr>
            <a:picLocks noChangeAspect="1"/>
          </p:cNvPicPr>
          <p:nvPr/>
        </p:nvPicPr>
        <p:blipFill>
          <a:blip r:embed="rId7"/>
          <a:stretch>
            <a:fillRect/>
          </a:stretch>
        </p:blipFill>
        <p:spPr>
          <a:xfrm>
            <a:off x="5014793" y="2514957"/>
            <a:ext cx="4600694" cy="4600694"/>
          </a:xfrm>
          <a:prstGeom prst="rect">
            <a:avLst/>
          </a:prstGeom>
        </p:spPr>
      </p:pic>
      <p:pic>
        <p:nvPicPr>
          <p:cNvPr id="12" name="Image 5" descr="preencoded.png"/>
          <p:cNvPicPr>
            <a:picLocks noChangeAspect="1"/>
          </p:cNvPicPr>
          <p:nvPr/>
        </p:nvPicPr>
        <p:blipFill>
          <a:blip r:embed="rId8"/>
          <a:stretch>
            <a:fillRect/>
          </a:stretch>
        </p:blipFill>
        <p:spPr>
          <a:xfrm>
            <a:off x="8003560" y="5466457"/>
            <a:ext cx="298371" cy="372904"/>
          </a:xfrm>
          <a:prstGeom prst="rect">
            <a:avLst/>
          </a:prstGeom>
        </p:spPr>
      </p:pic>
      <p:sp>
        <p:nvSpPr>
          <p:cNvPr id="13" name="Text 5"/>
          <p:cNvSpPr/>
          <p:nvPr/>
        </p:nvSpPr>
        <p:spPr>
          <a:xfrm>
            <a:off x="2048589" y="5897642"/>
            <a:ext cx="2966204" cy="294680"/>
          </a:xfrm>
          <a:prstGeom prst="rect">
            <a:avLst/>
          </a:prstGeom>
          <a:noFill/>
          <a:ln/>
        </p:spPr>
        <p:txBody>
          <a:bodyPr wrap="none" lIns="0" tIns="0" rIns="0" bIns="0" rtlCol="0" anchor="t"/>
          <a:lstStyle/>
          <a:p>
            <a:pPr marL="0" indent="0" algn="r">
              <a:lnSpc>
                <a:spcPts val="2300"/>
              </a:lnSpc>
              <a:buNone/>
            </a:pPr>
            <a:r>
              <a:rPr lang="en-US" sz="1850" dirty="0">
                <a:solidFill>
                  <a:srgbClr val="DAD8E9"/>
                </a:solidFill>
                <a:latin typeface="Prompt Medium" pitchFamily="34" charset="0"/>
                <a:ea typeface="Prompt Medium" pitchFamily="34" charset="-122"/>
                <a:cs typeface="Prompt Medium" pitchFamily="34" charset="-120"/>
              </a:rPr>
              <a:t>Multivariate Data Analysis</a:t>
            </a:r>
            <a:endParaRPr lang="en-US" sz="1850" dirty="0"/>
          </a:p>
        </p:txBody>
      </p:sp>
      <p:pic>
        <p:nvPicPr>
          <p:cNvPr id="14" name="Image 6" descr="preencoded.png"/>
          <p:cNvPicPr>
            <a:picLocks noChangeAspect="1"/>
          </p:cNvPicPr>
          <p:nvPr/>
        </p:nvPicPr>
        <p:blipFill>
          <a:blip r:embed="rId9"/>
          <a:stretch>
            <a:fillRect/>
          </a:stretch>
        </p:blipFill>
        <p:spPr>
          <a:xfrm>
            <a:off x="5014793" y="2514957"/>
            <a:ext cx="4600694" cy="4600694"/>
          </a:xfrm>
          <a:prstGeom prst="rect">
            <a:avLst/>
          </a:prstGeom>
        </p:spPr>
      </p:pic>
      <p:sp>
        <p:nvSpPr>
          <p:cNvPr id="15" name="Text 6"/>
          <p:cNvSpPr/>
          <p:nvPr/>
        </p:nvSpPr>
        <p:spPr>
          <a:xfrm>
            <a:off x="742712" y="7354372"/>
            <a:ext cx="13144976" cy="678894"/>
          </a:xfrm>
          <a:prstGeom prst="rect">
            <a:avLst/>
          </a:prstGeom>
          <a:noFill/>
          <a:ln/>
        </p:spPr>
        <p:txBody>
          <a:bodyPr wrap="square" lIns="0" tIns="0" rIns="0" bIns="0" rtlCol="0" anchor="t"/>
          <a:lstStyle/>
          <a:p>
            <a:pPr marL="0" indent="0" algn="l">
              <a:lnSpc>
                <a:spcPts val="2650"/>
              </a:lnSpc>
              <a:buNone/>
            </a:pPr>
            <a:r>
              <a:rPr lang="en-US" sz="1650" dirty="0">
                <a:solidFill>
                  <a:srgbClr val="DAD8E9"/>
                </a:solidFill>
                <a:latin typeface="Mukta Light" pitchFamily="34" charset="0"/>
                <a:ea typeface="Mukta Light" pitchFamily="34" charset="-122"/>
                <a:cs typeface="Mukta Light" pitchFamily="34" charset="-120"/>
              </a:rPr>
              <a:t>This work underscores the transformative potential of combining statistical rigor, computational intelligence, and data-driven modeling in shaping the future of financial forecasting and decision-making.</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80000"/>
            </a:srgbClr>
          </a:solidFill>
          <a:ln/>
        </p:spPr>
        <p:txBody>
          <a:bodyPr/>
          <a:lstStyle/>
          <a:p>
            <a:endParaRPr lang="en-US"/>
          </a:p>
        </p:txBody>
      </p:sp>
      <p:sp>
        <p:nvSpPr>
          <p:cNvPr id="4" name="Text 1"/>
          <p:cNvSpPr/>
          <p:nvPr/>
        </p:nvSpPr>
        <p:spPr>
          <a:xfrm>
            <a:off x="864037" y="3046333"/>
            <a:ext cx="10972800" cy="1371600"/>
          </a:xfrm>
          <a:prstGeom prst="rect">
            <a:avLst/>
          </a:prstGeom>
          <a:noFill/>
          <a:ln/>
        </p:spPr>
        <p:txBody>
          <a:bodyPr wrap="none" lIns="0" tIns="0" rIns="0" bIns="0" rtlCol="0" anchor="t"/>
          <a:lstStyle/>
          <a:p>
            <a:pPr marL="0" indent="0" algn="l">
              <a:lnSpc>
                <a:spcPts val="10800"/>
              </a:lnSpc>
              <a:buNone/>
            </a:pPr>
            <a:r>
              <a:rPr lang="en-US" sz="8600" dirty="0">
                <a:solidFill>
                  <a:srgbClr val="C6BFEE"/>
                </a:solidFill>
                <a:latin typeface="Prompt Medium" pitchFamily="34" charset="0"/>
                <a:ea typeface="Prompt Medium" pitchFamily="34" charset="-122"/>
                <a:cs typeface="Prompt Medium" pitchFamily="34" charset="-120"/>
              </a:rPr>
              <a:t>Thank You</a:t>
            </a:r>
            <a:endParaRPr lang="en-US" sz="8600" dirty="0"/>
          </a:p>
        </p:txBody>
      </p:sp>
      <p:sp>
        <p:nvSpPr>
          <p:cNvPr id="5" name="Text 2"/>
          <p:cNvSpPr/>
          <p:nvPr/>
        </p:nvSpPr>
        <p:spPr>
          <a:xfrm>
            <a:off x="864037" y="4788218"/>
            <a:ext cx="12902327" cy="395049"/>
          </a:xfrm>
          <a:prstGeom prst="rect">
            <a:avLst/>
          </a:prstGeom>
          <a:noFill/>
          <a:ln/>
        </p:spPr>
        <p:txBody>
          <a:bodyPr wrap="none" lIns="0" tIns="0" rIns="0" bIns="0" rtlCol="0" anchor="t"/>
          <a:lstStyle/>
          <a:p>
            <a:pPr marL="0" indent="0" algn="l">
              <a:lnSpc>
                <a:spcPts val="3100"/>
              </a:lnSpc>
              <a:buNone/>
            </a:pPr>
            <a:r>
              <a:rPr lang="en-US" sz="1900" u="sng" dirty="0">
                <a:solidFill>
                  <a:srgbClr val="A95B95"/>
                </a:solidFill>
                <a:latin typeface="Mukta Light" pitchFamily="34" charset="0"/>
                <a:ea typeface="Mukta Light" pitchFamily="34" charset="-122"/>
                <a:cs typeface="Mukta Light" pitchFamily="34" charset="-120"/>
                <a:hlinkClick r:id="rId4">
                  <a:extLst>
                    <a:ext uri="{A12FA001-AC4F-418D-AE19-62706E023703}">
                      <ahyp:hlinkClr xmlns:ahyp="http://schemas.microsoft.com/office/drawing/2018/hyperlinkcolor" val="tx"/>
                    </a:ext>
                  </a:extLst>
                </a:hlinkClick>
              </a:rPr>
              <a:t>nitesh</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797</Words>
  <Application>Microsoft Office PowerPoint</Application>
  <PresentationFormat>Custom</PresentationFormat>
  <Paragraphs>82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Prompt Medium</vt:lpstr>
      <vt:lpstr>Arial</vt:lpstr>
      <vt:lpstr>Mukta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Nitesh Duhan</cp:lastModifiedBy>
  <cp:revision>1</cp:revision>
  <dcterms:created xsi:type="dcterms:W3CDTF">2025-10-14T03:52:01Z</dcterms:created>
  <dcterms:modified xsi:type="dcterms:W3CDTF">2025-11-23T20:38:09Z</dcterms:modified>
</cp:coreProperties>
</file>